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100" u="none" kumimoji="0" normalizeH="0">
        <a:ln>
          <a:noFill/>
        </a:ln>
        <a:solidFill>
          <a:schemeClr val="accent2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100" u="none" kumimoji="0" normalizeH="0">
        <a:ln>
          <a:noFill/>
        </a:ln>
        <a:solidFill>
          <a:schemeClr val="accent2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100" u="none" kumimoji="0" normalizeH="0">
        <a:ln>
          <a:noFill/>
        </a:ln>
        <a:solidFill>
          <a:schemeClr val="accent2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100" u="none" kumimoji="0" normalizeH="0">
        <a:ln>
          <a:noFill/>
        </a:ln>
        <a:solidFill>
          <a:schemeClr val="accent2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100" u="none" kumimoji="0" normalizeH="0">
        <a:ln>
          <a:noFill/>
        </a:ln>
        <a:solidFill>
          <a:schemeClr val="accent2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100" u="none" kumimoji="0" normalizeH="0">
        <a:ln>
          <a:noFill/>
        </a:ln>
        <a:solidFill>
          <a:schemeClr val="accent2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100" u="none" kumimoji="0" normalizeH="0">
        <a:ln>
          <a:noFill/>
        </a:ln>
        <a:solidFill>
          <a:schemeClr val="accent2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100" u="none" kumimoji="0" normalizeH="0">
        <a:ln>
          <a:noFill/>
        </a:ln>
        <a:solidFill>
          <a:schemeClr val="accent2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100" u="none" kumimoji="0" normalizeH="0">
        <a:ln>
          <a:noFill/>
        </a:ln>
        <a:solidFill>
          <a:schemeClr val="accent2"/>
        </a:solidFill>
        <a:effectLst/>
        <a:uFillTx/>
        <a:latin typeface="PingFang SC Regular"/>
        <a:ea typeface="PingFang SC Regular"/>
        <a:cs typeface="PingFang SC Regular"/>
        <a:sym typeface="PingFang SC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PingFang SC Regular"/>
          <a:ea typeface="PingFang SC Regular"/>
          <a:cs typeface="PingFang SC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D1E2"/>
          </a:solidFill>
        </a:fill>
      </a:tcStyle>
    </a:wholeTbl>
    <a:band2H>
      <a:tcTxStyle b="def" i="def"/>
      <a:tcStyle>
        <a:tcBdr/>
        <a:fill>
          <a:solidFill>
            <a:srgbClr val="E7E9F1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PingFang SC Regular"/>
          <a:ea typeface="PingFang SC Regular"/>
          <a:cs typeface="PingFang SC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D1E2"/>
          </a:solidFill>
        </a:fill>
      </a:tcStyle>
    </a:wholeTbl>
    <a:band2H>
      <a:tcTxStyle b="def" i="def"/>
      <a:tcStyle>
        <a:tcBdr/>
        <a:fill>
          <a:solidFill>
            <a:srgbClr val="E7E9F1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PingFang SC Regular"/>
          <a:ea typeface="PingFang SC Regular"/>
          <a:cs typeface="PingFang SC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5E2"/>
          </a:solidFill>
        </a:fill>
      </a:tcStyle>
    </a:wholeTbl>
    <a:band2H>
      <a:tcTxStyle b="def" i="def"/>
      <a:tcStyle>
        <a:tcBdr/>
        <a:fill>
          <a:solidFill>
            <a:srgbClr val="E8EBF1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PingFang SC Regular"/>
          <a:ea typeface="PingFang SC Regular"/>
          <a:cs typeface="PingFang SC Regular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PingFang SC Regular"/>
          <a:ea typeface="PingFang SC Regular"/>
          <a:cs typeface="PingFang SC Regular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PingFang SC Regular"/>
          <a:ea typeface="PingFang SC Regular"/>
          <a:cs typeface="PingFang SC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PingFang SC Semibold"/>
          <a:ea typeface="PingFang SC Semibold"/>
          <a:cs typeface="PingFang SC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16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0" name="Shape 17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1ppt.com/hangye/" TargetMode="Externa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单击以编辑母版副标题样式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 hasCustomPrompt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  <a:lvl2pPr marL="0" indent="45720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2pPr>
            <a:lvl3pPr marL="0" indent="91440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3pPr>
            <a:lvl4pPr marL="0" indent="137160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4pPr>
            <a:lvl5pPr marL="0" indent="182880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9" name="文本占位符 4"/>
          <p:cNvSpPr/>
          <p:nvPr>
            <p:ph type="body" sz="quarter" idx="21" hasCustomPrompt="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编辑母版文本样式</a:t>
            </a: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half" idx="1" hasCustomPrompt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文本占位符 3"/>
          <p:cNvSpPr/>
          <p:nvPr>
            <p:ph type="body" sz="quarter" idx="21" hasCustomPrompt="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</a:lstStyle>
          <a:p>
            <a:pPr/>
            <a:r>
              <a:t>编辑母版文本样式</a:t>
            </a: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图片占位符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墨迹 6" descr="墨迹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286677" y="471794"/>
            <a:ext cx="36001" cy="162001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extBox 4"/>
          <p:cNvSpPr txBox="1"/>
          <p:nvPr/>
        </p:nvSpPr>
        <p:spPr>
          <a:xfrm>
            <a:off x="315749" y="494801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solidFill>
                  <a:srgbClr val="000000">
                    <a:alpha val="0"/>
                  </a:srgbClr>
                </a:solidFill>
              </a:defRPr>
            </a:pPr>
            <a:r>
              <a:t>行业</a:t>
            </a:r>
            <a:r>
              <a:t>PPT</a:t>
            </a:r>
            <a:r>
              <a:t>模板</a:t>
            </a:r>
            <a:r>
              <a:t>http://www.1ppt.com/hangye/</a:t>
            </a:r>
          </a:p>
        </p:txBody>
      </p:sp>
      <p:sp>
        <p:nvSpPr>
          <p:cNvPr id="115" name="TextBox 8"/>
          <p:cNvSpPr txBox="1"/>
          <p:nvPr/>
        </p:nvSpPr>
        <p:spPr>
          <a:xfrm>
            <a:off x="8919689" y="0"/>
            <a:ext cx="4486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200000"/>
              </a:lnSpc>
              <a:defRPr sz="100">
                <a:solidFill>
                  <a:srgbClr val="000000">
                    <a:alpha val="0"/>
                  </a:srgbClr>
                </a:solidFill>
              </a:defRPr>
            </a:pP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行业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PPT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模板</a:t>
            </a:r>
            <a:r>
              <a:t>http://www.1ppt.com/hangye/</a:t>
            </a:r>
          </a:p>
        </p:txBody>
      </p:sp>
      <p:sp>
        <p:nvSpPr>
          <p:cNvPr id="11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组合 10"/>
          <p:cNvGrpSpPr/>
          <p:nvPr/>
        </p:nvGrpSpPr>
        <p:grpSpPr>
          <a:xfrm>
            <a:off x="-4" y="-1"/>
            <a:ext cx="12192001" cy="6858001"/>
            <a:chOff x="-2" y="0"/>
            <a:chExt cx="12192000" cy="6858000"/>
          </a:xfrm>
        </p:grpSpPr>
        <p:pic>
          <p:nvPicPr>
            <p:cNvPr id="151" name="图片 9" descr="图片 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12192001" cy="6858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2" name="矩形 1"/>
            <p:cNvSpPr/>
            <p:nvPr/>
          </p:nvSpPr>
          <p:spPr>
            <a:xfrm>
              <a:off x="-3" y="0"/>
              <a:ext cx="12192001" cy="6858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54" name="矩形 4"/>
          <p:cNvSpPr/>
          <p:nvPr/>
        </p:nvSpPr>
        <p:spPr>
          <a:xfrm>
            <a:off x="179070" y="262890"/>
            <a:ext cx="495301" cy="495301"/>
          </a:xfrm>
          <a:prstGeom prst="rect">
            <a:avLst/>
          </a:prstGeom>
          <a:solidFill>
            <a:srgbClr val="80808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155" name="矩形 3"/>
          <p:cNvSpPr/>
          <p:nvPr/>
        </p:nvSpPr>
        <p:spPr>
          <a:xfrm>
            <a:off x="289559" y="163829"/>
            <a:ext cx="495301" cy="4953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156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编辑母版文本样式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097107" y="6385242"/>
            <a:ext cx="256694" cy="3073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PingFang SC Regular"/>
          <a:ea typeface="PingFang SC Regular"/>
          <a:cs typeface="PingFang SC Regular"/>
          <a:sym typeface="PingFang SC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hyperlink" Target="http://fly.io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组合 18"/>
          <p:cNvGrpSpPr/>
          <p:nvPr/>
        </p:nvGrpSpPr>
        <p:grpSpPr>
          <a:xfrm>
            <a:off x="-4" y="-1"/>
            <a:ext cx="12192001" cy="6858001"/>
            <a:chOff x="-2" y="0"/>
            <a:chExt cx="12192000" cy="6858000"/>
          </a:xfrm>
        </p:grpSpPr>
        <p:pic>
          <p:nvPicPr>
            <p:cNvPr id="172" name="图片 19" descr="图片 1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12192001" cy="6858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3" name="矩形 20"/>
            <p:cNvSpPr/>
            <p:nvPr/>
          </p:nvSpPr>
          <p:spPr>
            <a:xfrm>
              <a:off x="-3" y="0"/>
              <a:ext cx="12192001" cy="6858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75" name="矩形 4"/>
          <p:cNvSpPr/>
          <p:nvPr/>
        </p:nvSpPr>
        <p:spPr>
          <a:xfrm>
            <a:off x="0" y="3731342"/>
            <a:ext cx="12192000" cy="312665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176" name="文本框 8"/>
          <p:cNvSpPr txBox="1"/>
          <p:nvPr/>
        </p:nvSpPr>
        <p:spPr>
          <a:xfrm>
            <a:off x="3216270" y="1056487"/>
            <a:ext cx="6206237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4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Websoft9 产品规划方案</a:t>
            </a:r>
          </a:p>
        </p:txBody>
      </p:sp>
      <p:grpSp>
        <p:nvGrpSpPr>
          <p:cNvPr id="179" name="图片 26"/>
          <p:cNvGrpSpPr/>
          <p:nvPr/>
        </p:nvGrpSpPr>
        <p:grpSpPr>
          <a:xfrm>
            <a:off x="1095902" y="2277826"/>
            <a:ext cx="10035462" cy="3694907"/>
            <a:chOff x="0" y="0"/>
            <a:chExt cx="10035460" cy="3694906"/>
          </a:xfrm>
        </p:grpSpPr>
        <p:sp>
          <p:nvSpPr>
            <p:cNvPr id="177" name="形状"/>
            <p:cNvSpPr/>
            <p:nvPr/>
          </p:nvSpPr>
          <p:spPr>
            <a:xfrm>
              <a:off x="0" y="0"/>
              <a:ext cx="10035461" cy="36947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306" y="0"/>
                    <a:pt x="683" y="0"/>
                  </a:cubicBezTo>
                  <a:lnTo>
                    <a:pt x="20917" y="0"/>
                  </a:lnTo>
                  <a:lnTo>
                    <a:pt x="20917" y="0"/>
                  </a:lnTo>
                  <a:cubicBezTo>
                    <a:pt x="21294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294" y="21600"/>
                    <a:pt x="20917" y="21600"/>
                  </a:cubicBezTo>
                  <a:lnTo>
                    <a:pt x="683" y="21600"/>
                  </a:lnTo>
                  <a:lnTo>
                    <a:pt x="683" y="21600"/>
                  </a:lnTo>
                  <a:cubicBezTo>
                    <a:pt x="306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solidFill>
                    <a:srgbClr val="000000"/>
                  </a:solidFill>
                </a:defRPr>
              </a:pPr>
            </a:p>
          </p:txBody>
        </p:sp>
        <p:pic>
          <p:nvPicPr>
            <p:cNvPr id="178" name="生成数字科技背景图 (1).png" descr="生成数字科技背景图 (1)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6764" r="0" b="6762"/>
            <a:stretch>
              <a:fillRect/>
            </a:stretch>
          </p:blipFill>
          <p:spPr>
            <a:xfrm>
              <a:off x="0" y="0"/>
              <a:ext cx="10035382" cy="3694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83" y="0"/>
                  </a:moveTo>
                  <a:cubicBezTo>
                    <a:pt x="306" y="0"/>
                    <a:pt x="0" y="831"/>
                    <a:pt x="0" y="1856"/>
                  </a:cubicBezTo>
                  <a:lnTo>
                    <a:pt x="0" y="19744"/>
                  </a:lnTo>
                  <a:cubicBezTo>
                    <a:pt x="0" y="20769"/>
                    <a:pt x="306" y="21600"/>
                    <a:pt x="683" y="21600"/>
                  </a:cubicBezTo>
                  <a:lnTo>
                    <a:pt x="20917" y="21600"/>
                  </a:lnTo>
                  <a:cubicBezTo>
                    <a:pt x="21294" y="21600"/>
                    <a:pt x="21600" y="20769"/>
                    <a:pt x="21600" y="19744"/>
                  </a:cubicBezTo>
                  <a:lnTo>
                    <a:pt x="21600" y="1856"/>
                  </a:lnTo>
                  <a:cubicBezTo>
                    <a:pt x="21600" y="831"/>
                    <a:pt x="21294" y="0"/>
                    <a:pt x="20917" y="0"/>
                  </a:cubicBezTo>
                  <a:lnTo>
                    <a:pt x="683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sp>
        <p:nvSpPr>
          <p:cNvPr id="180" name="文本框 27"/>
          <p:cNvSpPr txBox="1"/>
          <p:nvPr/>
        </p:nvSpPr>
        <p:spPr>
          <a:xfrm>
            <a:off x="106242" y="6488667"/>
            <a:ext cx="202260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000">
                <a:solidFill>
                  <a:srgbClr val="1B2E56"/>
                </a:solidFill>
              </a:defRPr>
            </a:pPr>
            <a:r>
              <a:t>20250604</a:t>
            </a:r>
            <a:r>
              <a:t> </a:t>
            </a:r>
            <a:r>
              <a:t>V1.1 Herun copyrights</a:t>
            </a:r>
          </a:p>
        </p:txBody>
      </p:sp>
    </p:spTree>
  </p:cSld>
  <p:clrMapOvr>
    <a:masterClrMapping/>
  </p:clrMapOvr>
  <p:transition xmlns:p14="http://schemas.microsoft.com/office/powerpoint/2010/main" spd="med" advClick="0" advTm="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75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5" grpId="1"/>
      <p:bldP build="whole" bldLvl="1" animBg="1" rev="0" advAuto="0" spid="176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组合 44"/>
          <p:cNvGrpSpPr/>
          <p:nvPr/>
        </p:nvGrpSpPr>
        <p:grpSpPr>
          <a:xfrm>
            <a:off x="-4" y="-1"/>
            <a:ext cx="12192001" cy="6858001"/>
            <a:chOff x="-2" y="0"/>
            <a:chExt cx="12192000" cy="6858000"/>
          </a:xfrm>
        </p:grpSpPr>
        <p:pic>
          <p:nvPicPr>
            <p:cNvPr id="182" name="图片 45" descr="图片 45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12192001" cy="6858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3" name="矩形 46"/>
            <p:cNvSpPr/>
            <p:nvPr/>
          </p:nvSpPr>
          <p:spPr>
            <a:xfrm>
              <a:off x="-3" y="0"/>
              <a:ext cx="12192001" cy="6858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185" name="矩形 40"/>
          <p:cNvSpPr/>
          <p:nvPr/>
        </p:nvSpPr>
        <p:spPr>
          <a:xfrm>
            <a:off x="0" y="0"/>
            <a:ext cx="12192000" cy="312665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grpSp>
        <p:nvGrpSpPr>
          <p:cNvPr id="188" name="íşlíḋè"/>
          <p:cNvGrpSpPr/>
          <p:nvPr/>
        </p:nvGrpSpPr>
        <p:grpSpPr>
          <a:xfrm>
            <a:off x="3260376" y="4992880"/>
            <a:ext cx="3287204" cy="60890"/>
            <a:chOff x="0" y="0"/>
            <a:chExt cx="3287203" cy="60889"/>
          </a:xfrm>
        </p:grpSpPr>
        <p:sp>
          <p:nvSpPr>
            <p:cNvPr id="186" name="íṡḻïḑê"/>
            <p:cNvSpPr/>
            <p:nvPr/>
          </p:nvSpPr>
          <p:spPr>
            <a:xfrm>
              <a:off x="3226314" y="-1"/>
              <a:ext cx="60890" cy="60891"/>
            </a:xfrm>
            <a:prstGeom prst="rect">
              <a:avLst/>
            </a:prstGeom>
            <a:solidFill>
              <a:schemeClr val="accent1"/>
            </a:solidFill>
            <a:ln w="1905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chemeClr val="accent1"/>
                  </a:solidFill>
                </a:defRPr>
              </a:pPr>
            </a:p>
          </p:txBody>
        </p:sp>
        <p:sp>
          <p:nvSpPr>
            <p:cNvPr id="187" name="Straight Connector 30"/>
            <p:cNvSpPr/>
            <p:nvPr/>
          </p:nvSpPr>
          <p:spPr>
            <a:xfrm>
              <a:off x="-1" y="30444"/>
              <a:ext cx="3254700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193" name="íṥ1íḑê"/>
          <p:cNvGrpSpPr/>
          <p:nvPr/>
        </p:nvGrpSpPr>
        <p:grpSpPr>
          <a:xfrm>
            <a:off x="3217789" y="4438034"/>
            <a:ext cx="3316491" cy="530916"/>
            <a:chOff x="0" y="0"/>
            <a:chExt cx="3316489" cy="530914"/>
          </a:xfrm>
        </p:grpSpPr>
        <p:sp>
          <p:nvSpPr>
            <p:cNvPr id="189" name="íṧľïdê"/>
            <p:cNvSpPr txBox="1"/>
            <p:nvPr/>
          </p:nvSpPr>
          <p:spPr>
            <a:xfrm>
              <a:off x="0" y="0"/>
              <a:ext cx="500098" cy="530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normAutofit fontScale="100000" lnSpcReduction="0"/>
            </a:bodyPr>
            <a:lstStyle>
              <a:lvl1pPr algn="ctr" defTabSz="786384">
                <a:lnSpc>
                  <a:spcPct val="80000"/>
                </a:lnSpc>
                <a:defRPr sz="2924">
                  <a:solidFill>
                    <a:schemeClr val="accent1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pPr/>
              <a:r>
                <a:t>01</a:t>
              </a:r>
            </a:p>
          </p:txBody>
        </p:sp>
        <p:grpSp>
          <p:nvGrpSpPr>
            <p:cNvPr id="192" name="iŝ1íḋé"/>
            <p:cNvGrpSpPr/>
            <p:nvPr/>
          </p:nvGrpSpPr>
          <p:grpSpPr>
            <a:xfrm>
              <a:off x="704559" y="54245"/>
              <a:ext cx="2611931" cy="422425"/>
              <a:chOff x="0" y="0"/>
              <a:chExt cx="2611930" cy="422424"/>
            </a:xfrm>
          </p:grpSpPr>
          <p:sp>
            <p:nvSpPr>
              <p:cNvPr id="190" name="ïṡḻíḑè"/>
              <p:cNvSpPr txBox="1"/>
              <p:nvPr/>
            </p:nvSpPr>
            <p:spPr>
              <a:xfrm>
                <a:off x="0" y="0"/>
                <a:ext cx="673100" cy="1821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0" tIns="0" rIns="0" bIns="0" numCol="1" anchor="b">
                <a:normAutofit fontScale="100000" lnSpcReduction="0"/>
              </a:bodyPr>
              <a:lstStyle>
                <a:lvl1pPr defTabSz="722376">
                  <a:lnSpc>
                    <a:spcPct val="80000"/>
                  </a:lnSpc>
                  <a:defRPr sz="1027">
                    <a:solidFill>
                      <a:schemeClr val="accent1"/>
                    </a:solidFill>
                    <a:latin typeface="PingFang SC Semibold"/>
                    <a:ea typeface="PingFang SC Semibold"/>
                    <a:cs typeface="PingFang SC Semibold"/>
                    <a:sym typeface="PingFang SC Semibold"/>
                  </a:defRPr>
                </a:lvl1pPr>
              </a:lstStyle>
              <a:p>
                <a:pPr/>
                <a:r>
                  <a:t>总体规划</a:t>
                </a:r>
              </a:p>
            </p:txBody>
          </p:sp>
          <p:sp>
            <p:nvSpPr>
              <p:cNvPr id="191" name="îṥľiḋê"/>
              <p:cNvSpPr txBox="1"/>
              <p:nvPr/>
            </p:nvSpPr>
            <p:spPr>
              <a:xfrm>
                <a:off x="0" y="182148"/>
                <a:ext cx="2611931" cy="240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rmAutofit fontScale="100000" lnSpcReduction="0"/>
              </a:bodyPr>
              <a:lstStyle>
                <a:lvl1pPr>
                  <a:lnSpc>
                    <a:spcPct val="120000"/>
                  </a:lnSpc>
                  <a:defRPr sz="1000">
                    <a:solidFill>
                      <a:schemeClr val="accent1"/>
                    </a:solidFill>
                  </a:defRPr>
                </a:lvl1pPr>
              </a:lstStyle>
              <a:p>
                <a:pPr/>
                <a:r>
                  <a:t>Master planning</a:t>
                </a:r>
              </a:p>
            </p:txBody>
          </p:sp>
        </p:grpSp>
      </p:grpSp>
      <p:grpSp>
        <p:nvGrpSpPr>
          <p:cNvPr id="196" name="íşlíḋè"/>
          <p:cNvGrpSpPr/>
          <p:nvPr/>
        </p:nvGrpSpPr>
        <p:grpSpPr>
          <a:xfrm>
            <a:off x="7146576" y="4992880"/>
            <a:ext cx="3287204" cy="60890"/>
            <a:chOff x="0" y="0"/>
            <a:chExt cx="3287203" cy="60889"/>
          </a:xfrm>
        </p:grpSpPr>
        <p:sp>
          <p:nvSpPr>
            <p:cNvPr id="194" name="íṡḻïḑê"/>
            <p:cNvSpPr/>
            <p:nvPr/>
          </p:nvSpPr>
          <p:spPr>
            <a:xfrm>
              <a:off x="3226314" y="-1"/>
              <a:ext cx="60890" cy="60891"/>
            </a:xfrm>
            <a:prstGeom prst="rect">
              <a:avLst/>
            </a:prstGeom>
            <a:solidFill>
              <a:schemeClr val="accent1"/>
            </a:solidFill>
            <a:ln w="1905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chemeClr val="accent1"/>
                  </a:solidFill>
                </a:defRPr>
              </a:pPr>
            </a:p>
          </p:txBody>
        </p:sp>
        <p:sp>
          <p:nvSpPr>
            <p:cNvPr id="195" name="Straight Connector 30"/>
            <p:cNvSpPr/>
            <p:nvPr/>
          </p:nvSpPr>
          <p:spPr>
            <a:xfrm>
              <a:off x="-1" y="30444"/>
              <a:ext cx="3254700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201" name="íṥ1íḑê"/>
          <p:cNvGrpSpPr/>
          <p:nvPr/>
        </p:nvGrpSpPr>
        <p:grpSpPr>
          <a:xfrm>
            <a:off x="7077846" y="4438034"/>
            <a:ext cx="3342635" cy="530916"/>
            <a:chOff x="0" y="0"/>
            <a:chExt cx="3342634" cy="530914"/>
          </a:xfrm>
        </p:grpSpPr>
        <p:sp>
          <p:nvSpPr>
            <p:cNvPr id="197" name="íṧľïdê"/>
            <p:cNvSpPr txBox="1"/>
            <p:nvPr/>
          </p:nvSpPr>
          <p:spPr>
            <a:xfrm>
              <a:off x="-1" y="0"/>
              <a:ext cx="552387" cy="530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normAutofit fontScale="100000" lnSpcReduction="0"/>
            </a:bodyPr>
            <a:lstStyle>
              <a:lvl1pPr algn="ctr" defTabSz="786384">
                <a:lnSpc>
                  <a:spcPct val="80000"/>
                </a:lnSpc>
                <a:defRPr sz="2924">
                  <a:solidFill>
                    <a:schemeClr val="accent1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pPr/>
              <a:r>
                <a:t>02</a:t>
              </a:r>
            </a:p>
          </p:txBody>
        </p:sp>
        <p:grpSp>
          <p:nvGrpSpPr>
            <p:cNvPr id="200" name="iŝ1íḋé"/>
            <p:cNvGrpSpPr/>
            <p:nvPr/>
          </p:nvGrpSpPr>
          <p:grpSpPr>
            <a:xfrm>
              <a:off x="730703" y="54245"/>
              <a:ext cx="2611932" cy="422425"/>
              <a:chOff x="0" y="0"/>
              <a:chExt cx="2611930" cy="422424"/>
            </a:xfrm>
          </p:grpSpPr>
          <p:sp>
            <p:nvSpPr>
              <p:cNvPr id="198" name="ïṡḻíḑè"/>
              <p:cNvSpPr txBox="1"/>
              <p:nvPr/>
            </p:nvSpPr>
            <p:spPr>
              <a:xfrm>
                <a:off x="0" y="0"/>
                <a:ext cx="673100" cy="1821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0" tIns="0" rIns="0" bIns="0" numCol="1" anchor="b">
                <a:normAutofit fontScale="100000" lnSpcReduction="0"/>
              </a:bodyPr>
              <a:lstStyle>
                <a:lvl1pPr defTabSz="722376">
                  <a:lnSpc>
                    <a:spcPct val="80000"/>
                  </a:lnSpc>
                  <a:defRPr sz="1027">
                    <a:solidFill>
                      <a:schemeClr val="accent1"/>
                    </a:solidFill>
                    <a:latin typeface="PingFang SC Semibold"/>
                    <a:ea typeface="PingFang SC Semibold"/>
                    <a:cs typeface="PingFang SC Semibold"/>
                    <a:sym typeface="PingFang SC Semibold"/>
                  </a:defRPr>
                </a:lvl1pPr>
              </a:lstStyle>
              <a:p>
                <a:pPr/>
                <a:r>
                  <a:t>产品架构</a:t>
                </a:r>
              </a:p>
            </p:txBody>
          </p:sp>
          <p:sp>
            <p:nvSpPr>
              <p:cNvPr id="199" name="îṥľiḋê"/>
              <p:cNvSpPr txBox="1"/>
              <p:nvPr/>
            </p:nvSpPr>
            <p:spPr>
              <a:xfrm>
                <a:off x="0" y="182148"/>
                <a:ext cx="2611931" cy="240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rmAutofit fontScale="100000" lnSpcReduction="0"/>
              </a:bodyPr>
              <a:lstStyle>
                <a:lvl1pPr>
                  <a:lnSpc>
                    <a:spcPct val="120000"/>
                  </a:lnSpc>
                  <a:defRPr sz="1000">
                    <a:solidFill>
                      <a:schemeClr val="accent1"/>
                    </a:solidFill>
                  </a:defRPr>
                </a:lvl1pPr>
              </a:lstStyle>
              <a:p>
                <a:pPr/>
                <a:r>
                  <a:t>Technical architecture</a:t>
                </a:r>
              </a:p>
            </p:txBody>
          </p:sp>
        </p:grpSp>
      </p:grpSp>
      <p:grpSp>
        <p:nvGrpSpPr>
          <p:cNvPr id="204" name="íşlíḋè"/>
          <p:cNvGrpSpPr/>
          <p:nvPr/>
        </p:nvGrpSpPr>
        <p:grpSpPr>
          <a:xfrm>
            <a:off x="3260376" y="5968146"/>
            <a:ext cx="3287204" cy="60890"/>
            <a:chOff x="0" y="0"/>
            <a:chExt cx="3287203" cy="60889"/>
          </a:xfrm>
        </p:grpSpPr>
        <p:sp>
          <p:nvSpPr>
            <p:cNvPr id="202" name="íṡḻïḑê"/>
            <p:cNvSpPr/>
            <p:nvPr/>
          </p:nvSpPr>
          <p:spPr>
            <a:xfrm>
              <a:off x="3226314" y="-1"/>
              <a:ext cx="60890" cy="60891"/>
            </a:xfrm>
            <a:prstGeom prst="rect">
              <a:avLst/>
            </a:prstGeom>
            <a:solidFill>
              <a:schemeClr val="accent1"/>
            </a:solidFill>
            <a:ln w="1905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chemeClr val="accent1"/>
                  </a:solidFill>
                </a:defRPr>
              </a:pPr>
            </a:p>
          </p:txBody>
        </p:sp>
        <p:sp>
          <p:nvSpPr>
            <p:cNvPr id="203" name="Straight Connector 30"/>
            <p:cNvSpPr/>
            <p:nvPr/>
          </p:nvSpPr>
          <p:spPr>
            <a:xfrm>
              <a:off x="-1" y="30444"/>
              <a:ext cx="3254700" cy="1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209" name="íṥ1íḑê"/>
          <p:cNvGrpSpPr/>
          <p:nvPr/>
        </p:nvGrpSpPr>
        <p:grpSpPr>
          <a:xfrm>
            <a:off x="3185531" y="5413300"/>
            <a:ext cx="3348749" cy="530916"/>
            <a:chOff x="0" y="0"/>
            <a:chExt cx="3348748" cy="530914"/>
          </a:xfrm>
        </p:grpSpPr>
        <p:sp>
          <p:nvSpPr>
            <p:cNvPr id="205" name="íṧľïdê"/>
            <p:cNvSpPr txBox="1"/>
            <p:nvPr/>
          </p:nvSpPr>
          <p:spPr>
            <a:xfrm>
              <a:off x="-1" y="0"/>
              <a:ext cx="564616" cy="5309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normAutofit fontScale="100000" lnSpcReduction="0"/>
            </a:bodyPr>
            <a:lstStyle>
              <a:lvl1pPr algn="ctr" defTabSz="786384">
                <a:lnSpc>
                  <a:spcPct val="80000"/>
                </a:lnSpc>
                <a:defRPr sz="2924">
                  <a:solidFill>
                    <a:schemeClr val="accent1"/>
                  </a:solidFill>
                  <a:latin typeface="Impact"/>
                  <a:ea typeface="Impact"/>
                  <a:cs typeface="Impact"/>
                  <a:sym typeface="Impact"/>
                </a:defRPr>
              </a:lvl1pPr>
            </a:lstStyle>
            <a:p>
              <a:pPr/>
              <a:r>
                <a:t>03</a:t>
              </a:r>
            </a:p>
          </p:txBody>
        </p:sp>
        <p:grpSp>
          <p:nvGrpSpPr>
            <p:cNvPr id="208" name="iŝ1íḋé"/>
            <p:cNvGrpSpPr/>
            <p:nvPr/>
          </p:nvGrpSpPr>
          <p:grpSpPr>
            <a:xfrm>
              <a:off x="736818" y="54245"/>
              <a:ext cx="2611931" cy="422425"/>
              <a:chOff x="0" y="0"/>
              <a:chExt cx="2611930" cy="422424"/>
            </a:xfrm>
          </p:grpSpPr>
          <p:sp>
            <p:nvSpPr>
              <p:cNvPr id="206" name="ïṡḻíḑè"/>
              <p:cNvSpPr txBox="1"/>
              <p:nvPr/>
            </p:nvSpPr>
            <p:spPr>
              <a:xfrm>
                <a:off x="0" y="0"/>
                <a:ext cx="673100" cy="1821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0" tIns="0" rIns="0" bIns="0" numCol="1" anchor="b">
                <a:normAutofit fontScale="100000" lnSpcReduction="0"/>
              </a:bodyPr>
              <a:lstStyle>
                <a:lvl1pPr defTabSz="722376">
                  <a:lnSpc>
                    <a:spcPct val="80000"/>
                  </a:lnSpc>
                  <a:defRPr sz="1027">
                    <a:solidFill>
                      <a:schemeClr val="accent1"/>
                    </a:solidFill>
                    <a:latin typeface="PingFang SC Semibold"/>
                    <a:ea typeface="PingFang SC Semibold"/>
                    <a:cs typeface="PingFang SC Semibold"/>
                    <a:sym typeface="PingFang SC Semibold"/>
                  </a:defRPr>
                </a:lvl1pPr>
              </a:lstStyle>
              <a:p>
                <a:pPr/>
                <a:r>
                  <a:t>开发计划</a:t>
                </a:r>
              </a:p>
            </p:txBody>
          </p:sp>
          <p:sp>
            <p:nvSpPr>
              <p:cNvPr id="207" name="îṥľiḋê"/>
              <p:cNvSpPr txBox="1"/>
              <p:nvPr/>
            </p:nvSpPr>
            <p:spPr>
              <a:xfrm>
                <a:off x="0" y="182148"/>
                <a:ext cx="2611931" cy="240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normAutofit fontScale="100000" lnSpcReduction="0"/>
              </a:bodyPr>
              <a:lstStyle>
                <a:lvl1pPr>
                  <a:lnSpc>
                    <a:spcPct val="120000"/>
                  </a:lnSpc>
                  <a:defRPr sz="1000">
                    <a:solidFill>
                      <a:schemeClr val="accent1"/>
                    </a:solidFill>
                  </a:defRPr>
                </a:lvl1pPr>
              </a:lstStyle>
              <a:p>
                <a:pPr/>
                <a:r>
                  <a:t>Development planning</a:t>
                </a:r>
              </a:p>
            </p:txBody>
          </p:sp>
        </p:grpSp>
      </p:grpSp>
      <p:grpSp>
        <p:nvGrpSpPr>
          <p:cNvPr id="212" name="图片 50"/>
          <p:cNvGrpSpPr/>
          <p:nvPr/>
        </p:nvGrpSpPr>
        <p:grpSpPr>
          <a:xfrm>
            <a:off x="1497866" y="340278"/>
            <a:ext cx="9196263" cy="3385827"/>
            <a:chOff x="0" y="0"/>
            <a:chExt cx="9196262" cy="3385825"/>
          </a:xfrm>
        </p:grpSpPr>
        <p:sp>
          <p:nvSpPr>
            <p:cNvPr id="210" name="形状"/>
            <p:cNvSpPr/>
            <p:nvPr/>
          </p:nvSpPr>
          <p:spPr>
            <a:xfrm>
              <a:off x="-1" y="0"/>
              <a:ext cx="9196263" cy="33858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306" y="0"/>
                    <a:pt x="683" y="0"/>
                  </a:cubicBezTo>
                  <a:lnTo>
                    <a:pt x="20917" y="0"/>
                  </a:lnTo>
                  <a:lnTo>
                    <a:pt x="20917" y="0"/>
                  </a:lnTo>
                  <a:cubicBezTo>
                    <a:pt x="21294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294" y="21600"/>
                    <a:pt x="20917" y="21600"/>
                  </a:cubicBezTo>
                  <a:lnTo>
                    <a:pt x="683" y="21600"/>
                  </a:lnTo>
                  <a:lnTo>
                    <a:pt x="683" y="21600"/>
                  </a:lnTo>
                  <a:cubicBezTo>
                    <a:pt x="306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solidFill>
                    <a:srgbClr val="000000"/>
                  </a:solidFill>
                </a:defRPr>
              </a:pPr>
            </a:p>
          </p:txBody>
        </p:sp>
        <p:pic>
          <p:nvPicPr>
            <p:cNvPr id="211" name="生成数字科技背景图 (1).png" descr="生成数字科技背景图 (1)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6764" r="0" b="6767"/>
            <a:stretch>
              <a:fillRect/>
            </a:stretch>
          </p:blipFill>
          <p:spPr>
            <a:xfrm>
              <a:off x="0" y="0"/>
              <a:ext cx="9196262" cy="33857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83" y="0"/>
                  </a:moveTo>
                  <a:cubicBezTo>
                    <a:pt x="306" y="0"/>
                    <a:pt x="0" y="831"/>
                    <a:pt x="0" y="1856"/>
                  </a:cubicBezTo>
                  <a:lnTo>
                    <a:pt x="0" y="19744"/>
                  </a:lnTo>
                  <a:cubicBezTo>
                    <a:pt x="0" y="20769"/>
                    <a:pt x="306" y="21600"/>
                    <a:pt x="683" y="21600"/>
                  </a:cubicBezTo>
                  <a:lnTo>
                    <a:pt x="20917" y="21600"/>
                  </a:lnTo>
                  <a:cubicBezTo>
                    <a:pt x="21294" y="21600"/>
                    <a:pt x="21600" y="20769"/>
                    <a:pt x="21600" y="19744"/>
                  </a:cubicBezTo>
                  <a:lnTo>
                    <a:pt x="21600" y="1856"/>
                  </a:lnTo>
                  <a:cubicBezTo>
                    <a:pt x="21600" y="831"/>
                    <a:pt x="21294" y="0"/>
                    <a:pt x="20917" y="0"/>
                  </a:cubicBezTo>
                  <a:lnTo>
                    <a:pt x="683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  <p:grpSp>
        <p:nvGrpSpPr>
          <p:cNvPr id="215" name="组合 49"/>
          <p:cNvGrpSpPr/>
          <p:nvPr/>
        </p:nvGrpSpPr>
        <p:grpSpPr>
          <a:xfrm>
            <a:off x="1589901" y="4133850"/>
            <a:ext cx="923331" cy="2114550"/>
            <a:chOff x="0" y="0"/>
            <a:chExt cx="923329" cy="2114550"/>
          </a:xfrm>
        </p:grpSpPr>
        <p:sp>
          <p:nvSpPr>
            <p:cNvPr id="213" name="矩形 5"/>
            <p:cNvSpPr/>
            <p:nvPr/>
          </p:nvSpPr>
          <p:spPr>
            <a:xfrm>
              <a:off x="0" y="0"/>
              <a:ext cx="923330" cy="2114550"/>
            </a:xfrm>
            <a:prstGeom prst="rect">
              <a:avLst/>
            </a:prstGeom>
            <a:solidFill>
              <a:srgbClr val="243E7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4" name="文本框 1"/>
            <p:cNvSpPr txBox="1"/>
            <p:nvPr/>
          </p:nvSpPr>
          <p:spPr>
            <a:xfrm>
              <a:off x="176570" y="304184"/>
              <a:ext cx="701041" cy="15263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vert="eaVert" wrap="none" lIns="45719" tIns="45719" rIns="45719" bIns="45719" numCol="1" anchor="t">
              <a:spAutoFit/>
            </a:bodyPr>
            <a:lstStyle>
              <a:lvl1pPr>
                <a:defRPr sz="4800">
                  <a:solidFill>
                    <a:srgbClr val="FFFFFF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目 录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7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Class="entr" nodeType="after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Class="entr" nodeType="after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Class="entr" nodeType="after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Class="entr" nodeType="after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Class="entr" nodeType="afterEffect" presetSubtype="8" presetID="2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50"/>
                            </p:stCondLst>
                            <p:childTnLst>
                              <p:par>
                                <p:cTn id="29" presetClass="entr" nodeType="after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3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88" grpId="3"/>
      <p:bldP build="whole" bldLvl="1" animBg="1" rev="0" advAuto="0" spid="204" grpId="7"/>
      <p:bldP build="whole" bldLvl="1" animBg="1" rev="0" advAuto="0" spid="193" grpId="2"/>
      <p:bldP build="whole" bldLvl="1" animBg="1" rev="0" advAuto="0" spid="196" grpId="5"/>
      <p:bldP build="whole" bldLvl="1" animBg="1" rev="0" advAuto="0" spid="185" grpId="1"/>
      <p:bldP build="whole" bldLvl="1" animBg="1" rev="0" advAuto="0" spid="209" grpId="6"/>
      <p:bldP build="whole" bldLvl="1" animBg="1" rev="0" advAuto="0" spid="201" grpId="4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组合 8"/>
          <p:cNvGrpSpPr/>
          <p:nvPr/>
        </p:nvGrpSpPr>
        <p:grpSpPr>
          <a:xfrm>
            <a:off x="-4" y="-1"/>
            <a:ext cx="12192001" cy="6858001"/>
            <a:chOff x="-2" y="0"/>
            <a:chExt cx="12192000" cy="6858000"/>
          </a:xfrm>
        </p:grpSpPr>
        <p:pic>
          <p:nvPicPr>
            <p:cNvPr id="217" name="图片 9" descr="图片 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12192001" cy="6858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8" name="矩形 10"/>
            <p:cNvSpPr/>
            <p:nvPr/>
          </p:nvSpPr>
          <p:spPr>
            <a:xfrm>
              <a:off x="-3" y="0"/>
              <a:ext cx="12192001" cy="6858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20" name="矩形 40"/>
          <p:cNvSpPr/>
          <p:nvPr/>
        </p:nvSpPr>
        <p:spPr>
          <a:xfrm>
            <a:off x="0" y="2631357"/>
            <a:ext cx="12192000" cy="312665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221" name="文本框 43"/>
          <p:cNvSpPr txBox="1"/>
          <p:nvPr/>
        </p:nvSpPr>
        <p:spPr>
          <a:xfrm>
            <a:off x="8997210" y="3569713"/>
            <a:ext cx="2339341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4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总体规划</a:t>
            </a:r>
          </a:p>
        </p:txBody>
      </p:sp>
      <p:sp>
        <p:nvSpPr>
          <p:cNvPr id="222" name="文本框 46"/>
          <p:cNvSpPr txBox="1"/>
          <p:nvPr/>
        </p:nvSpPr>
        <p:spPr>
          <a:xfrm>
            <a:off x="5862595" y="4024243"/>
            <a:ext cx="1927912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PART 01</a:t>
            </a:r>
          </a:p>
        </p:txBody>
      </p:sp>
      <p:sp>
        <p:nvSpPr>
          <p:cNvPr id="223" name="直接连接符 3"/>
          <p:cNvSpPr/>
          <p:nvPr/>
        </p:nvSpPr>
        <p:spPr>
          <a:xfrm>
            <a:off x="8381587" y="3627520"/>
            <a:ext cx="1" cy="1439779"/>
          </a:xfrm>
          <a:prstGeom prst="line">
            <a:avLst/>
          </a:prstGeom>
          <a:ln w="63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224" name="文本框 4"/>
          <p:cNvSpPr txBox="1"/>
          <p:nvPr/>
        </p:nvSpPr>
        <p:spPr>
          <a:xfrm>
            <a:off x="8997210" y="4519814"/>
            <a:ext cx="235024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Master planning</a:t>
            </a:r>
          </a:p>
        </p:txBody>
      </p:sp>
      <p:grpSp>
        <p:nvGrpSpPr>
          <p:cNvPr id="227" name="图片 12"/>
          <p:cNvGrpSpPr/>
          <p:nvPr/>
        </p:nvGrpSpPr>
        <p:grpSpPr>
          <a:xfrm>
            <a:off x="463657" y="887068"/>
            <a:ext cx="7286354" cy="2682646"/>
            <a:chOff x="0" y="0"/>
            <a:chExt cx="7286352" cy="2682644"/>
          </a:xfrm>
        </p:grpSpPr>
        <p:sp>
          <p:nvSpPr>
            <p:cNvPr id="225" name="形状"/>
            <p:cNvSpPr/>
            <p:nvPr/>
          </p:nvSpPr>
          <p:spPr>
            <a:xfrm>
              <a:off x="0" y="-1"/>
              <a:ext cx="7286353" cy="2682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306" y="0"/>
                    <a:pt x="683" y="0"/>
                  </a:cubicBezTo>
                  <a:lnTo>
                    <a:pt x="20917" y="0"/>
                  </a:lnTo>
                  <a:lnTo>
                    <a:pt x="20917" y="0"/>
                  </a:lnTo>
                  <a:cubicBezTo>
                    <a:pt x="21294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294" y="21600"/>
                    <a:pt x="20917" y="21600"/>
                  </a:cubicBezTo>
                  <a:lnTo>
                    <a:pt x="683" y="21600"/>
                  </a:lnTo>
                  <a:lnTo>
                    <a:pt x="683" y="21600"/>
                  </a:lnTo>
                  <a:cubicBezTo>
                    <a:pt x="306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solidFill>
                    <a:srgbClr val="000000"/>
                  </a:solidFill>
                </a:defRPr>
              </a:pPr>
            </a:p>
          </p:txBody>
        </p:sp>
        <p:pic>
          <p:nvPicPr>
            <p:cNvPr id="226" name="生成数字科技背景图 (1).png" descr="生成数字科技背景图 (1)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6764" r="1" b="6770"/>
            <a:stretch>
              <a:fillRect/>
            </a:stretch>
          </p:blipFill>
          <p:spPr>
            <a:xfrm>
              <a:off x="0" y="0"/>
              <a:ext cx="7286229" cy="2682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84" y="0"/>
                  </a:moveTo>
                  <a:cubicBezTo>
                    <a:pt x="306" y="0"/>
                    <a:pt x="0" y="831"/>
                    <a:pt x="0" y="1857"/>
                  </a:cubicBezTo>
                  <a:lnTo>
                    <a:pt x="0" y="19746"/>
                  </a:lnTo>
                  <a:cubicBezTo>
                    <a:pt x="0" y="20772"/>
                    <a:pt x="306" y="21600"/>
                    <a:pt x="684" y="21600"/>
                  </a:cubicBezTo>
                  <a:lnTo>
                    <a:pt x="20916" y="21600"/>
                  </a:lnTo>
                  <a:cubicBezTo>
                    <a:pt x="21294" y="21600"/>
                    <a:pt x="21600" y="20772"/>
                    <a:pt x="21600" y="19746"/>
                  </a:cubicBezTo>
                  <a:lnTo>
                    <a:pt x="21600" y="1857"/>
                  </a:lnTo>
                  <a:cubicBezTo>
                    <a:pt x="21600" y="831"/>
                    <a:pt x="21294" y="0"/>
                    <a:pt x="20916" y="0"/>
                  </a:cubicBezTo>
                  <a:lnTo>
                    <a:pt x="684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7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Class="entr" nodeType="after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Class="entr" nodeType="afterEffect" presetSubtype="1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Class="entr" nodeType="afterEffect" presetSubtype="2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Class="entr" nodeType="after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2" grpId="2"/>
      <p:bldP build="whole" bldLvl="1" animBg="1" rev="0" advAuto="0" spid="221" grpId="4"/>
      <p:bldP build="whole" bldLvl="1" animBg="1" rev="0" advAuto="0" spid="223" grpId="3"/>
      <p:bldP build="whole" bldLvl="1" animBg="1" rev="0" advAuto="0" spid="224" grpId="5"/>
      <p:bldP build="whole" bldLvl="1" animBg="1" rev="0" advAuto="0" spid="22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文本框 2"/>
          <p:cNvSpPr txBox="1"/>
          <p:nvPr/>
        </p:nvSpPr>
        <p:spPr>
          <a:xfrm>
            <a:off x="939927" y="277952"/>
            <a:ext cx="2390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总体规划与产品定位</a:t>
            </a:r>
          </a:p>
        </p:txBody>
      </p:sp>
      <p:grpSp>
        <p:nvGrpSpPr>
          <p:cNvPr id="232" name="文本框 83"/>
          <p:cNvGrpSpPr/>
          <p:nvPr/>
        </p:nvGrpSpPr>
        <p:grpSpPr>
          <a:xfrm>
            <a:off x="1766499" y="3064988"/>
            <a:ext cx="1193801" cy="561341"/>
            <a:chOff x="0" y="0"/>
            <a:chExt cx="1193800" cy="561340"/>
          </a:xfrm>
        </p:grpSpPr>
        <p:sp>
          <p:nvSpPr>
            <p:cNvPr id="231" name="文本框 83"/>
            <p:cNvSpPr txBox="1"/>
            <p:nvPr/>
          </p:nvSpPr>
          <p:spPr>
            <a:xfrm>
              <a:off x="38100" y="38099"/>
              <a:ext cx="1117600" cy="485142"/>
            </a:xfrm>
            <a:prstGeom prst="rect">
              <a:avLst/>
            </a:prstGeom>
            <a:solidFill>
              <a:srgbClr val="7A81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产品定位</a:t>
              </a:r>
            </a:p>
          </p:txBody>
        </p:sp>
        <p:pic>
          <p:nvPicPr>
            <p:cNvPr id="230" name="文本框 83" descr="文本框 83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193800" cy="561341"/>
            </a:xfrm>
            <a:prstGeom prst="rect">
              <a:avLst/>
            </a:prstGeom>
            <a:effectLst/>
          </p:spPr>
        </p:pic>
      </p:grpSp>
      <p:grpSp>
        <p:nvGrpSpPr>
          <p:cNvPr id="235" name="文本框 83"/>
          <p:cNvGrpSpPr/>
          <p:nvPr/>
        </p:nvGrpSpPr>
        <p:grpSpPr>
          <a:xfrm>
            <a:off x="3044603" y="3128488"/>
            <a:ext cx="7331026" cy="497841"/>
            <a:chOff x="0" y="0"/>
            <a:chExt cx="7331025" cy="497840"/>
          </a:xfrm>
        </p:grpSpPr>
        <p:sp>
          <p:nvSpPr>
            <p:cNvPr id="234" name="文本框 83"/>
            <p:cNvSpPr txBox="1"/>
            <p:nvPr/>
          </p:nvSpPr>
          <p:spPr>
            <a:xfrm>
              <a:off x="38100" y="38099"/>
              <a:ext cx="7254826" cy="421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20000"/>
                </a:lnSpc>
                <a:defRPr sz="1400">
                  <a:solidFill>
                    <a:srgbClr val="000000"/>
                  </a:solidFill>
                </a:defRPr>
              </a:lvl1pPr>
            </a:lstStyle>
            <a:p>
              <a:pPr/>
              <a:r>
                <a:t>APM PAAS，轻量级自动化运维平台，支持企业客户对服务器/应用进行统一集中管控。</a:t>
              </a:r>
            </a:p>
          </p:txBody>
        </p:sp>
        <p:pic>
          <p:nvPicPr>
            <p:cNvPr id="233" name="文本框 83" descr="文本框 83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7331026" cy="497841"/>
            </a:xfrm>
            <a:prstGeom prst="rect">
              <a:avLst/>
            </a:prstGeom>
            <a:effectLst/>
          </p:spPr>
        </p:pic>
      </p:grpSp>
      <p:grpSp>
        <p:nvGrpSpPr>
          <p:cNvPr id="238" name="文本框 83"/>
          <p:cNvGrpSpPr/>
          <p:nvPr/>
        </p:nvGrpSpPr>
        <p:grpSpPr>
          <a:xfrm>
            <a:off x="1766499" y="4107258"/>
            <a:ext cx="1193801" cy="561341"/>
            <a:chOff x="0" y="0"/>
            <a:chExt cx="1193800" cy="561340"/>
          </a:xfrm>
        </p:grpSpPr>
        <p:sp>
          <p:nvSpPr>
            <p:cNvPr id="237" name="文本框 83"/>
            <p:cNvSpPr txBox="1"/>
            <p:nvPr/>
          </p:nvSpPr>
          <p:spPr>
            <a:xfrm>
              <a:off x="38100" y="38099"/>
              <a:ext cx="1117600" cy="485142"/>
            </a:xfrm>
            <a:prstGeom prst="rect">
              <a:avLst/>
            </a:prstGeom>
            <a:solidFill>
              <a:srgbClr val="7A81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目标客群</a:t>
              </a:r>
            </a:p>
          </p:txBody>
        </p:sp>
        <p:pic>
          <p:nvPicPr>
            <p:cNvPr id="236" name="文本框 83" descr="文本框 83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193800" cy="561341"/>
            </a:xfrm>
            <a:prstGeom prst="rect">
              <a:avLst/>
            </a:prstGeom>
            <a:effectLst/>
          </p:spPr>
        </p:pic>
      </p:grpSp>
      <p:grpSp>
        <p:nvGrpSpPr>
          <p:cNvPr id="241" name="文本框 83"/>
          <p:cNvGrpSpPr/>
          <p:nvPr/>
        </p:nvGrpSpPr>
        <p:grpSpPr>
          <a:xfrm>
            <a:off x="3044603" y="4170758"/>
            <a:ext cx="7331026" cy="497841"/>
            <a:chOff x="0" y="0"/>
            <a:chExt cx="7331025" cy="497840"/>
          </a:xfrm>
        </p:grpSpPr>
        <p:sp>
          <p:nvSpPr>
            <p:cNvPr id="240" name="文本框 83"/>
            <p:cNvSpPr txBox="1"/>
            <p:nvPr/>
          </p:nvSpPr>
          <p:spPr>
            <a:xfrm>
              <a:off x="38100" y="38099"/>
              <a:ext cx="7254826" cy="421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20000"/>
                </a:lnSpc>
                <a:defRPr sz="1400">
                  <a:solidFill>
                    <a:srgbClr val="000000"/>
                  </a:solidFill>
                </a:defRPr>
              </a:lvl1pPr>
            </a:lstStyle>
            <a:p>
              <a:pPr/>
              <a:r>
                <a:t>公有云部署的中小型企业客户，私有化部署的中大型企业客户。</a:t>
              </a:r>
            </a:p>
          </p:txBody>
        </p:sp>
        <p:pic>
          <p:nvPicPr>
            <p:cNvPr id="239" name="文本框 83" descr="文本框 83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7331026" cy="497841"/>
            </a:xfrm>
            <a:prstGeom prst="rect">
              <a:avLst/>
            </a:prstGeom>
            <a:effectLst/>
          </p:spPr>
        </p:pic>
      </p:grpSp>
      <p:grpSp>
        <p:nvGrpSpPr>
          <p:cNvPr id="244" name="文本框 83"/>
          <p:cNvGrpSpPr/>
          <p:nvPr/>
        </p:nvGrpSpPr>
        <p:grpSpPr>
          <a:xfrm>
            <a:off x="1766499" y="5162229"/>
            <a:ext cx="1193801" cy="561341"/>
            <a:chOff x="0" y="0"/>
            <a:chExt cx="1193800" cy="561340"/>
          </a:xfrm>
        </p:grpSpPr>
        <p:sp>
          <p:nvSpPr>
            <p:cNvPr id="243" name="文本框 83"/>
            <p:cNvSpPr txBox="1"/>
            <p:nvPr/>
          </p:nvSpPr>
          <p:spPr>
            <a:xfrm>
              <a:off x="38100" y="38099"/>
              <a:ext cx="1117600" cy="485142"/>
            </a:xfrm>
            <a:prstGeom prst="rect">
              <a:avLst/>
            </a:prstGeom>
            <a:solidFill>
              <a:srgbClr val="7A81FF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800">
                  <a:solidFill>
                    <a:srgbClr val="FFFFFF"/>
                  </a:solidFill>
                </a:defRPr>
              </a:lvl1pPr>
            </a:lstStyle>
            <a:p>
              <a:pPr/>
              <a:r>
                <a:t>关键词</a:t>
              </a:r>
            </a:p>
          </p:txBody>
        </p:sp>
        <p:pic>
          <p:nvPicPr>
            <p:cNvPr id="242" name="文本框 83" descr="文本框 83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1193800" cy="561341"/>
            </a:xfrm>
            <a:prstGeom prst="rect">
              <a:avLst/>
            </a:prstGeom>
            <a:effectLst/>
          </p:spPr>
        </p:pic>
      </p:grpSp>
      <p:grpSp>
        <p:nvGrpSpPr>
          <p:cNvPr id="247" name="文本框 83"/>
          <p:cNvGrpSpPr/>
          <p:nvPr/>
        </p:nvGrpSpPr>
        <p:grpSpPr>
          <a:xfrm>
            <a:off x="3044603" y="5225729"/>
            <a:ext cx="7331026" cy="497841"/>
            <a:chOff x="0" y="0"/>
            <a:chExt cx="7331025" cy="497840"/>
          </a:xfrm>
        </p:grpSpPr>
        <p:sp>
          <p:nvSpPr>
            <p:cNvPr id="246" name="文本框 83"/>
            <p:cNvSpPr txBox="1"/>
            <p:nvPr/>
          </p:nvSpPr>
          <p:spPr>
            <a:xfrm>
              <a:off x="38100" y="38099"/>
              <a:ext cx="7254826" cy="4216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ct val="120000"/>
                </a:lnSpc>
                <a:defRPr sz="1400">
                  <a:solidFill>
                    <a:srgbClr val="000000"/>
                  </a:solidFill>
                </a:defRPr>
              </a:lvl1pPr>
            </a:lstStyle>
            <a:p>
              <a:pPr/>
              <a:r>
                <a:t>自动化运维、轻量级应用敏捷部署、运维脚手架。</a:t>
              </a:r>
            </a:p>
          </p:txBody>
        </p:sp>
        <p:pic>
          <p:nvPicPr>
            <p:cNvPr id="245" name="文本框 83" descr="文本框 83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7331026" cy="497841"/>
            </a:xfrm>
            <a:prstGeom prst="rect">
              <a:avLst/>
            </a:prstGeom>
            <a:effectLst/>
          </p:spPr>
        </p:pic>
      </p:grpSp>
      <p:sp>
        <p:nvSpPr>
          <p:cNvPr id="248" name="文本框 83"/>
          <p:cNvSpPr txBox="1"/>
          <p:nvPr/>
        </p:nvSpPr>
        <p:spPr>
          <a:xfrm>
            <a:off x="1202037" y="1417470"/>
            <a:ext cx="9787926" cy="95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基于现有Websoft9 产品定位及网久科技未来发展战略规划，结合市场客户需求及对标产品数据，对现有产品功能、技术架构进行优化升级，以满足国际化市场不同企业客户需求，为网久科技在技术出海、云运维服务市场打下坚实基础，实现企业销售业绩不断取得新增长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提供高度统一且集中的运维工具栈支持，如：监控面板、服务器操作、多端命令行、系统审计日志等。"/>
          <p:cNvSpPr/>
          <p:nvPr/>
        </p:nvSpPr>
        <p:spPr>
          <a:xfrm>
            <a:off x="1463573" y="1770521"/>
            <a:ext cx="3308678" cy="1575467"/>
          </a:xfrm>
          <a:prstGeom prst="roundRect">
            <a:avLst>
              <a:gd name="adj" fmla="val 12092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marL="152400" marR="152400">
              <a:lnSpc>
                <a:spcPct val="150000"/>
              </a:lnSpc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提供高度统一且集中的运维工具栈支持，如：监控面板、服务器操作、多端命令行、系统审计日志等。</a:t>
            </a:r>
          </a:p>
        </p:txBody>
      </p:sp>
      <p:sp>
        <p:nvSpPr>
          <p:cNvPr id="251" name="文本框 2"/>
          <p:cNvSpPr txBox="1"/>
          <p:nvPr/>
        </p:nvSpPr>
        <p:spPr>
          <a:xfrm>
            <a:off x="939927" y="277952"/>
            <a:ext cx="1628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客户痛点分析</a:t>
            </a:r>
          </a:p>
        </p:txBody>
      </p:sp>
      <p:sp>
        <p:nvSpPr>
          <p:cNvPr id="252" name="成组"/>
          <p:cNvSpPr/>
          <p:nvPr/>
        </p:nvSpPr>
        <p:spPr>
          <a:xfrm>
            <a:off x="1592641" y="1244234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6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降低公有云平台/私有云运维难度</a:t>
            </a:r>
          </a:p>
        </p:txBody>
      </p:sp>
      <p:sp>
        <p:nvSpPr>
          <p:cNvPr id="253" name="成组"/>
          <p:cNvSpPr/>
          <p:nvPr/>
        </p:nvSpPr>
        <p:spPr>
          <a:xfrm>
            <a:off x="1592641" y="4018897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6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规范且清晰的自动化运维流程</a:t>
            </a:r>
          </a:p>
        </p:txBody>
      </p:sp>
      <p:sp>
        <p:nvSpPr>
          <p:cNvPr id="254" name="成组"/>
          <p:cNvSpPr/>
          <p:nvPr/>
        </p:nvSpPr>
        <p:spPr>
          <a:xfrm>
            <a:off x="7521317" y="1118986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6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缺乏安全/可靠的软件源</a:t>
            </a:r>
          </a:p>
        </p:txBody>
      </p:sp>
      <p:sp>
        <p:nvSpPr>
          <p:cNvPr id="255" name="成组"/>
          <p:cNvSpPr/>
          <p:nvPr/>
        </p:nvSpPr>
        <p:spPr>
          <a:xfrm>
            <a:off x="7521317" y="3893650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6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快速开箱即用的轻应用部署</a:t>
            </a:r>
          </a:p>
        </p:txBody>
      </p:sp>
      <p:sp>
        <p:nvSpPr>
          <p:cNvPr id="256" name="提供官方来源可信的软件安装支持，支持Docker官方可信源认证、Linux官方社区可信源认证、第三方软件官方源认证接入。"/>
          <p:cNvSpPr/>
          <p:nvPr/>
        </p:nvSpPr>
        <p:spPr>
          <a:xfrm>
            <a:off x="7138248" y="1645273"/>
            <a:ext cx="3308678" cy="1575467"/>
          </a:xfrm>
          <a:prstGeom prst="roundRect">
            <a:avLst>
              <a:gd name="adj" fmla="val 12092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marL="152400" marR="152400"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提供官方来源可信的软件安装支持，支持Docker官方可信源认证、Linux官方社区可信源认证、第三方软件官方源认证接入。</a:t>
            </a:r>
          </a:p>
        </p:txBody>
      </p:sp>
      <p:sp>
        <p:nvSpPr>
          <p:cNvPr id="257" name="提供基于流程编排的任务计划支持，支持单一场景/多场景的复杂任务流程编排与执行，形成可追溯、规范的自动化运维流程"/>
          <p:cNvSpPr/>
          <p:nvPr/>
        </p:nvSpPr>
        <p:spPr>
          <a:xfrm>
            <a:off x="1463573" y="4574088"/>
            <a:ext cx="3308678" cy="1575467"/>
          </a:xfrm>
          <a:prstGeom prst="roundRect">
            <a:avLst>
              <a:gd name="adj" fmla="val 12092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marL="152400" marR="152400"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提供基于流程编排的任务计划支持，支持单一场景/多场景的复杂任务流程编排与执行，形成可追溯、规范的自动化运维流程</a:t>
            </a:r>
          </a:p>
        </p:txBody>
      </p:sp>
      <p:sp>
        <p:nvSpPr>
          <p:cNvPr id="258" name="提供应用商店，集成常见的单体应用部署模版（WP，MySQL，Nginx等），满足不同类型客户敏捷部署需求。"/>
          <p:cNvSpPr/>
          <p:nvPr/>
        </p:nvSpPr>
        <p:spPr>
          <a:xfrm>
            <a:off x="7138248" y="4448840"/>
            <a:ext cx="3308678" cy="1575467"/>
          </a:xfrm>
          <a:prstGeom prst="roundRect">
            <a:avLst>
              <a:gd name="adj" fmla="val 12092"/>
            </a:avLst>
          </a:prstGeom>
          <a:solidFill>
            <a:srgbClr val="7A81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 marL="152400" marR="152400">
              <a:lnSpc>
                <a:spcPct val="120000"/>
              </a:lnSpc>
              <a:defRPr sz="1400">
                <a:solidFill>
                  <a:srgbClr val="FFFFFF"/>
                </a:solidFill>
              </a:defRPr>
            </a:lvl1pPr>
          </a:lstStyle>
          <a:p>
            <a:pPr/>
            <a:r>
              <a:t>提供应用商店，集成常见的单体应用部署模版（WP，MySQL，Nginx等），满足不同类型客户敏捷部署需求。</a:t>
            </a:r>
          </a:p>
        </p:txBody>
      </p:sp>
      <p:grpSp>
        <p:nvGrpSpPr>
          <p:cNvPr id="261" name="成组"/>
          <p:cNvGrpSpPr/>
          <p:nvPr/>
        </p:nvGrpSpPr>
        <p:grpSpPr>
          <a:xfrm>
            <a:off x="5362786" y="3317676"/>
            <a:ext cx="1466428" cy="824726"/>
            <a:chOff x="0" y="0"/>
            <a:chExt cx="1466427" cy="824725"/>
          </a:xfrm>
        </p:grpSpPr>
        <p:sp>
          <p:nvSpPr>
            <p:cNvPr id="260" name="文本框 83"/>
            <p:cNvSpPr txBox="1"/>
            <p:nvPr/>
          </p:nvSpPr>
          <p:spPr>
            <a:xfrm>
              <a:off x="38100" y="38100"/>
              <a:ext cx="1390228" cy="748526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 algn="ctr">
                <a:lnSpc>
                  <a:spcPct val="120000"/>
                </a:lnSpc>
                <a:defRPr sz="1600">
                  <a:solidFill>
                    <a:srgbClr val="FFFFFF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pPr>
              <a:r>
                <a:t>云运维</a:t>
              </a:r>
            </a:p>
            <a:p>
              <a:pPr algn="ctr">
                <a:lnSpc>
                  <a:spcPct val="120000"/>
                </a:lnSpc>
                <a:defRPr sz="1600">
                  <a:solidFill>
                    <a:srgbClr val="FFFFFF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pPr>
              <a:r>
                <a:t>主要痛点</a:t>
              </a:r>
            </a:p>
          </p:txBody>
        </p:sp>
        <p:pic>
          <p:nvPicPr>
            <p:cNvPr id="259" name="文本框 83" descr="文本框 83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-1"/>
              <a:ext cx="1466428" cy="824727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文本框 2"/>
          <p:cNvSpPr txBox="1"/>
          <p:nvPr/>
        </p:nvSpPr>
        <p:spPr>
          <a:xfrm>
            <a:off x="939927" y="277952"/>
            <a:ext cx="1628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对标产品分析</a:t>
            </a:r>
          </a:p>
        </p:txBody>
      </p:sp>
      <p:graphicFrame>
        <p:nvGraphicFramePr>
          <p:cNvPr id="264" name="表格 1"/>
          <p:cNvGraphicFramePr/>
          <p:nvPr/>
        </p:nvGraphicFramePr>
        <p:xfrm>
          <a:off x="1244676" y="1197301"/>
          <a:ext cx="9715348" cy="46609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450339"/>
                <a:gridCol w="3495333"/>
                <a:gridCol w="2331312"/>
                <a:gridCol w="2425661"/>
              </a:tblGrid>
              <a:tr h="241302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  <a:sym typeface="PingFang SC Semibold"/>
                        </a:rPr>
                        <a:t>产品名称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  <a:sym typeface="PingFang SC Semibold"/>
                        </a:rPr>
                        <a:t>产品定位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  <a:sym typeface="PingFang SC Semibold"/>
                        </a:rPr>
                        <a:t>盈利模式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200">
                          <a:solidFill>
                            <a:srgbClr val="FFFFFF"/>
                          </a:solidFill>
                          <a:sym typeface="PingFang SC Semibold"/>
                        </a:rPr>
                        <a:t>解决问题场景</a:t>
                      </a:r>
                    </a:p>
                  </a:txBody>
                  <a:tcPr marL="0" marR="0" marT="0" marB="0" anchor="ctr" anchorCtr="0" horzOverflow="overflow"/>
                </a:tc>
              </a:tr>
              <a:tr h="15367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render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轻量级应用部署平台；
支持中小企业的快速应用部署和维护管理（SAAS）；
支持中大型企业的私有化部署方案（PAAS）；
DevOps；
无开源版本。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订阅制（SAAS）
按需的定制服务（PAAS）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中小型企业客户开箱即用的快速应用部署上线，如个人独立站、APP后端服务、企业自有系统等</a:t>
                      </a:r>
                    </a:p>
                  </a:txBody>
                  <a:tcPr marL="0" marR="0" marT="0" marB="0" anchor="ctr" anchorCtr="0" horzOverflow="overflow"/>
                </a:tc>
              </a:tr>
              <a:tr h="1524000">
                <a:tc>
                  <a:txBody>
                    <a:bodyPr/>
                    <a:lstStyle/>
                    <a:p>
                      <a:pPr algn="ctr">
                        <a:defRPr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defRPr>
                      </a:pPr>
                      <a:r>
                        <a:rPr u="sng">
                          <a:solidFill>
                            <a:srgbClr val="0563C1"/>
                          </a:solidFill>
                          <a:uFill>
                            <a:solidFill>
                              <a:srgbClr val="0563C1"/>
                            </a:solidFill>
                          </a:uFill>
                          <a:hlinkClick r:id="rId2" invalidUrl="" action="" tgtFrame="" tooltip="" history="1" highlightClick="0" endSnd="0"/>
                        </a:rPr>
                        <a:t>fly.io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轻量级容器化平台；
支持快速容器化部署和维护管理与render不同一点是在产品形态和定位上，fly属于容器化SAAS/PAAS路线；
DevOps；
无开源版本。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订阅制（SAAS）
按需的定制服务（PAAS）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中小型企业客户对容器化部署与维护，构建弹性可伸缩的应用</a:t>
                      </a:r>
                    </a:p>
                  </a:txBody>
                  <a:tcPr marL="0" marR="0" marT="0" marB="0" anchor="ctr" anchorCtr="0" horzOverflow="overflow"/>
                </a:tc>
              </a:tr>
              <a:tr h="1092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swiftwave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轻量级应用部署平台；
对标render，走开源路线，仅提供PAAS方案；
开源版本/付费版本；
DevOps。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按需的定制服务/专业版支持（PAAS）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同render</a:t>
                      </a:r>
                    </a:p>
                  </a:txBody>
                  <a:tcPr marL="0" marR="0" marT="0" marB="0" anchor="ctr" anchorCtr="0" horzOverflow="overflow"/>
                </a:tc>
              </a:tr>
              <a:tr h="24130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PingFang SC Semibold"/>
                          <a:ea typeface="PingFang SC Semibold"/>
                          <a:cs typeface="PingFang SC Semibold"/>
                          <a:sym typeface="PingFang SC Semibold"/>
                        </a:rPr>
                        <a:t>宝塔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轻量级运维管理平台；
支持企业客户对服务器的统一纳管；
开源版本/付费版本；
APM。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按需的定制服务/专业版支持（PAAS）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/>
                        <a:t>企业客户对服务器的集中运维管理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文本框 2"/>
          <p:cNvSpPr txBox="1"/>
          <p:nvPr/>
        </p:nvSpPr>
        <p:spPr>
          <a:xfrm>
            <a:off x="939927" y="277952"/>
            <a:ext cx="1628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产品路线规划</a:t>
            </a:r>
          </a:p>
        </p:txBody>
      </p:sp>
      <p:sp>
        <p:nvSpPr>
          <p:cNvPr id="267" name="实现基础功能的PAAS版本…"/>
          <p:cNvSpPr/>
          <p:nvPr/>
        </p:nvSpPr>
        <p:spPr>
          <a:xfrm>
            <a:off x="534142" y="4207533"/>
            <a:ext cx="3308678" cy="1219794"/>
          </a:xfrm>
          <a:prstGeom prst="roundRect">
            <a:avLst>
              <a:gd name="adj" fmla="val 15617"/>
            </a:avLst>
          </a:prstGeom>
          <a:solidFill>
            <a:srgbClr val="7A81FF">
              <a:alpha val="92277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marL="292768" marR="152400" indent="-140368">
              <a:lnSpc>
                <a:spcPct val="120000"/>
              </a:lnSpc>
              <a:buSzPct val="60000"/>
              <a:buBlip>
                <a:blip r:embed="rId2"/>
              </a:buBlip>
              <a:defRPr sz="1400">
                <a:solidFill>
                  <a:srgbClr val="FFFFFF"/>
                </a:solidFill>
              </a:defRPr>
            </a:pPr>
            <a:r>
              <a:t> 实现基础功能的PAAS版本</a:t>
            </a:r>
          </a:p>
          <a:p>
            <a:pPr marL="292768" marR="152400" indent="-140368">
              <a:lnSpc>
                <a:spcPct val="120000"/>
              </a:lnSpc>
              <a:buSzPct val="60000"/>
              <a:buBlip>
                <a:blip r:embed="rId2"/>
              </a:buBlip>
              <a:defRPr sz="1400">
                <a:solidFill>
                  <a:srgbClr val="FFFFFF"/>
                </a:solidFill>
              </a:defRPr>
            </a:pPr>
            <a:r>
              <a:t> 实现开源社区和客户群体推广</a:t>
            </a:r>
          </a:p>
          <a:p>
            <a:pPr marL="292768" marR="152400" indent="-140368">
              <a:lnSpc>
                <a:spcPct val="120000"/>
              </a:lnSpc>
              <a:buSzPct val="60000"/>
              <a:buBlip>
                <a:blip r:embed="rId2"/>
              </a:buBlip>
              <a:defRPr sz="1400">
                <a:solidFill>
                  <a:srgbClr val="FFFFFF"/>
                </a:solidFill>
              </a:defRPr>
            </a:pPr>
            <a:r>
              <a:t> 计划5个月</a:t>
            </a:r>
          </a:p>
        </p:txBody>
      </p:sp>
      <p:sp>
        <p:nvSpPr>
          <p:cNvPr id="268" name="实现SAAS平台与相关服务支持…"/>
          <p:cNvSpPr/>
          <p:nvPr/>
        </p:nvSpPr>
        <p:spPr>
          <a:xfrm>
            <a:off x="4150394" y="2270291"/>
            <a:ext cx="3549306" cy="2077980"/>
          </a:xfrm>
          <a:prstGeom prst="roundRect">
            <a:avLst>
              <a:gd name="adj" fmla="val 9168"/>
            </a:avLst>
          </a:prstGeom>
          <a:solidFill>
            <a:srgbClr val="7A81FF">
              <a:alpha val="92277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marL="292768" marR="152400" indent="-140368">
              <a:lnSpc>
                <a:spcPct val="120000"/>
              </a:lnSpc>
              <a:buSzPct val="60000"/>
              <a:buBlip>
                <a:blip r:embed="rId2"/>
              </a:buBlip>
              <a:defRPr sz="1400">
                <a:solidFill>
                  <a:srgbClr val="FFFFFF"/>
                </a:solidFill>
              </a:defRPr>
            </a:pPr>
            <a:r>
              <a:t> 实现SAAS平台与相关服务支持</a:t>
            </a:r>
          </a:p>
          <a:p>
            <a:pPr marL="292768" marR="152400" indent="-140368">
              <a:lnSpc>
                <a:spcPct val="120000"/>
              </a:lnSpc>
              <a:buSzPct val="60000"/>
              <a:buBlip>
                <a:blip r:embed="rId2"/>
              </a:buBlip>
              <a:defRPr sz="1400">
                <a:solidFill>
                  <a:srgbClr val="FFFFFF"/>
                </a:solidFill>
              </a:defRPr>
            </a:pPr>
            <a:r>
              <a:t> 实现官方技术支持团队、客户服务团队、区域市场销售团队等团队搭建、SAAS平台能力配套</a:t>
            </a:r>
          </a:p>
          <a:p>
            <a:pPr marL="292768" marR="152400" indent="-140368">
              <a:lnSpc>
                <a:spcPct val="120000"/>
              </a:lnSpc>
              <a:buSzPct val="60000"/>
              <a:buBlip>
                <a:blip r:embed="rId2"/>
              </a:buBlip>
              <a:defRPr sz="1400">
                <a:solidFill>
                  <a:srgbClr val="FFFFFF"/>
                </a:solidFill>
              </a:defRPr>
            </a:pPr>
            <a:r>
              <a:t> 计划3个月</a:t>
            </a:r>
          </a:p>
        </p:txBody>
      </p:sp>
      <p:sp>
        <p:nvSpPr>
          <p:cNvPr id="269" name="根据一二阶段客户、市场反馈调整SAAS/PAAS产研比重，逐步迭代升级产品功能、服务内容…"/>
          <p:cNvSpPr/>
          <p:nvPr/>
        </p:nvSpPr>
        <p:spPr>
          <a:xfrm>
            <a:off x="8209597" y="1316483"/>
            <a:ext cx="3549306" cy="2077980"/>
          </a:xfrm>
          <a:prstGeom prst="roundRect">
            <a:avLst>
              <a:gd name="adj" fmla="val 9168"/>
            </a:avLst>
          </a:prstGeom>
          <a:solidFill>
            <a:srgbClr val="7A81FF">
              <a:alpha val="92277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 marL="292768" marR="152400" indent="-140368">
              <a:lnSpc>
                <a:spcPct val="120000"/>
              </a:lnSpc>
              <a:buSzPct val="60000"/>
              <a:buBlip>
                <a:blip r:embed="rId2"/>
              </a:buBlip>
              <a:defRPr sz="1400">
                <a:solidFill>
                  <a:srgbClr val="FFFFFF"/>
                </a:solidFill>
              </a:defRPr>
            </a:pPr>
            <a:r>
              <a:t> 根据一二阶段客户、市场反馈调整SAAS/PAAS产研比重，逐步迭代升级产品功能、服务内容</a:t>
            </a:r>
          </a:p>
          <a:p>
            <a:pPr marL="292768" marR="152400" indent="-140368">
              <a:lnSpc>
                <a:spcPct val="120000"/>
              </a:lnSpc>
              <a:buSzPct val="60000"/>
              <a:buBlip>
                <a:blip r:embed="rId2"/>
              </a:buBlip>
              <a:defRPr sz="1400">
                <a:solidFill>
                  <a:srgbClr val="FFFFFF"/>
                </a:solidFill>
              </a:defRPr>
            </a:pPr>
            <a:r>
              <a:t> 长期</a:t>
            </a:r>
          </a:p>
        </p:txBody>
      </p:sp>
      <p:sp>
        <p:nvSpPr>
          <p:cNvPr id="270" name="成组"/>
          <p:cNvSpPr/>
          <p:nvPr/>
        </p:nvSpPr>
        <p:spPr>
          <a:xfrm>
            <a:off x="609930" y="3402345"/>
            <a:ext cx="1270001" cy="1270001"/>
          </a:xfrm>
          <a:prstGeom prst="line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2600">
                <a:solidFill>
                  <a:srgbClr val="7A81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Roadmap</a:t>
            </a:r>
          </a:p>
        </p:txBody>
      </p:sp>
      <p:sp>
        <p:nvSpPr>
          <p:cNvPr id="271" name="三角形"/>
          <p:cNvSpPr/>
          <p:nvPr/>
        </p:nvSpPr>
        <p:spPr>
          <a:xfrm rot="5400000">
            <a:off x="3846828" y="4655209"/>
            <a:ext cx="376634" cy="3244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A81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272" name="三角形"/>
          <p:cNvSpPr/>
          <p:nvPr/>
        </p:nvSpPr>
        <p:spPr>
          <a:xfrm rot="5400000">
            <a:off x="7722977" y="3147060"/>
            <a:ext cx="376634" cy="3244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7A81FF">
              <a:alpha val="8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组合 8"/>
          <p:cNvGrpSpPr/>
          <p:nvPr/>
        </p:nvGrpSpPr>
        <p:grpSpPr>
          <a:xfrm>
            <a:off x="-4" y="-1"/>
            <a:ext cx="12192001" cy="6858001"/>
            <a:chOff x="-2" y="0"/>
            <a:chExt cx="12192000" cy="6858000"/>
          </a:xfrm>
        </p:grpSpPr>
        <p:pic>
          <p:nvPicPr>
            <p:cNvPr id="274" name="图片 9" descr="图片 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12192001" cy="6858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5" name="矩形 10"/>
            <p:cNvSpPr/>
            <p:nvPr/>
          </p:nvSpPr>
          <p:spPr>
            <a:xfrm>
              <a:off x="-3" y="0"/>
              <a:ext cx="12192001" cy="6858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277" name="矩形 40"/>
          <p:cNvSpPr/>
          <p:nvPr/>
        </p:nvSpPr>
        <p:spPr>
          <a:xfrm>
            <a:off x="0" y="2631357"/>
            <a:ext cx="12192000" cy="312665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278" name="文本框 43"/>
          <p:cNvSpPr txBox="1"/>
          <p:nvPr/>
        </p:nvSpPr>
        <p:spPr>
          <a:xfrm>
            <a:off x="8997210" y="3569713"/>
            <a:ext cx="2339341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4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产品架构</a:t>
            </a:r>
          </a:p>
        </p:txBody>
      </p:sp>
      <p:sp>
        <p:nvSpPr>
          <p:cNvPr id="279" name="文本框 46"/>
          <p:cNvSpPr txBox="1"/>
          <p:nvPr/>
        </p:nvSpPr>
        <p:spPr>
          <a:xfrm>
            <a:off x="5862595" y="4024243"/>
            <a:ext cx="2014780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PART 02</a:t>
            </a:r>
          </a:p>
        </p:txBody>
      </p:sp>
      <p:sp>
        <p:nvSpPr>
          <p:cNvPr id="280" name="直接连接符 3"/>
          <p:cNvSpPr/>
          <p:nvPr/>
        </p:nvSpPr>
        <p:spPr>
          <a:xfrm>
            <a:off x="8381587" y="3627520"/>
            <a:ext cx="1" cy="1439779"/>
          </a:xfrm>
          <a:prstGeom prst="line">
            <a:avLst/>
          </a:prstGeom>
          <a:ln w="63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281" name="文本框 4"/>
          <p:cNvSpPr txBox="1"/>
          <p:nvPr/>
        </p:nvSpPr>
        <p:spPr>
          <a:xfrm>
            <a:off x="8997210" y="4519814"/>
            <a:ext cx="2350247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Technical architecture</a:t>
            </a:r>
          </a:p>
        </p:txBody>
      </p:sp>
      <p:grpSp>
        <p:nvGrpSpPr>
          <p:cNvPr id="284" name="图片 12"/>
          <p:cNvGrpSpPr/>
          <p:nvPr/>
        </p:nvGrpSpPr>
        <p:grpSpPr>
          <a:xfrm>
            <a:off x="463657" y="887068"/>
            <a:ext cx="7286354" cy="2682646"/>
            <a:chOff x="0" y="0"/>
            <a:chExt cx="7286352" cy="2682644"/>
          </a:xfrm>
        </p:grpSpPr>
        <p:sp>
          <p:nvSpPr>
            <p:cNvPr id="282" name="形状"/>
            <p:cNvSpPr/>
            <p:nvPr/>
          </p:nvSpPr>
          <p:spPr>
            <a:xfrm>
              <a:off x="0" y="-1"/>
              <a:ext cx="7286353" cy="2682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306" y="0"/>
                    <a:pt x="683" y="0"/>
                  </a:cubicBezTo>
                  <a:lnTo>
                    <a:pt x="20917" y="0"/>
                  </a:lnTo>
                  <a:lnTo>
                    <a:pt x="20917" y="0"/>
                  </a:lnTo>
                  <a:cubicBezTo>
                    <a:pt x="21294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294" y="21600"/>
                    <a:pt x="20917" y="21600"/>
                  </a:cubicBezTo>
                  <a:lnTo>
                    <a:pt x="683" y="21600"/>
                  </a:lnTo>
                  <a:lnTo>
                    <a:pt x="683" y="21600"/>
                  </a:lnTo>
                  <a:cubicBezTo>
                    <a:pt x="306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solidFill>
                    <a:srgbClr val="000000"/>
                  </a:solidFill>
                </a:defRPr>
              </a:pPr>
            </a:p>
          </p:txBody>
        </p:sp>
        <p:pic>
          <p:nvPicPr>
            <p:cNvPr id="283" name="生成数字科技背景图 (1).png" descr="生成数字科技背景图 (1)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6764" r="1" b="6770"/>
            <a:stretch>
              <a:fillRect/>
            </a:stretch>
          </p:blipFill>
          <p:spPr>
            <a:xfrm>
              <a:off x="0" y="0"/>
              <a:ext cx="7286229" cy="2682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84" y="0"/>
                  </a:moveTo>
                  <a:cubicBezTo>
                    <a:pt x="306" y="0"/>
                    <a:pt x="0" y="831"/>
                    <a:pt x="0" y="1857"/>
                  </a:cubicBezTo>
                  <a:lnTo>
                    <a:pt x="0" y="19746"/>
                  </a:lnTo>
                  <a:cubicBezTo>
                    <a:pt x="0" y="20772"/>
                    <a:pt x="306" y="21600"/>
                    <a:pt x="684" y="21600"/>
                  </a:cubicBezTo>
                  <a:lnTo>
                    <a:pt x="20916" y="21600"/>
                  </a:lnTo>
                  <a:cubicBezTo>
                    <a:pt x="21294" y="21600"/>
                    <a:pt x="21600" y="20772"/>
                    <a:pt x="21600" y="19746"/>
                  </a:cubicBezTo>
                  <a:lnTo>
                    <a:pt x="21600" y="1857"/>
                  </a:lnTo>
                  <a:cubicBezTo>
                    <a:pt x="21600" y="831"/>
                    <a:pt x="21294" y="0"/>
                    <a:pt x="20916" y="0"/>
                  </a:cubicBezTo>
                  <a:lnTo>
                    <a:pt x="684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75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Class="entr" nodeType="after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Class="entr" nodeType="afterEffect" presetSubtype="1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6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Class="entr" nodeType="afterEffect" presetSubtype="2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Class="entr" nodeType="after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80" grpId="3"/>
      <p:bldP build="whole" bldLvl="1" animBg="1" rev="0" advAuto="0" spid="278" grpId="4"/>
      <p:bldP build="whole" bldLvl="1" animBg="1" rev="0" advAuto="0" spid="281" grpId="5"/>
      <p:bldP build="whole" bldLvl="1" animBg="1" rev="0" advAuto="0" spid="277" grpId="1"/>
      <p:bldP build="whole" bldLvl="1" animBg="1" rev="0" advAuto="0" spid="279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文本框 2"/>
          <p:cNvSpPr txBox="1"/>
          <p:nvPr/>
        </p:nvSpPr>
        <p:spPr>
          <a:xfrm>
            <a:off x="939927" y="277952"/>
            <a:ext cx="1628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总体应用架构</a:t>
            </a:r>
          </a:p>
        </p:txBody>
      </p:sp>
      <p:grpSp>
        <p:nvGrpSpPr>
          <p:cNvPr id="290" name="组合 1"/>
          <p:cNvGrpSpPr/>
          <p:nvPr/>
        </p:nvGrpSpPr>
        <p:grpSpPr>
          <a:xfrm>
            <a:off x="2154022" y="1112962"/>
            <a:ext cx="826708" cy="853196"/>
            <a:chOff x="0" y="0"/>
            <a:chExt cx="826706" cy="853194"/>
          </a:xfrm>
        </p:grpSpPr>
        <p:sp>
          <p:nvSpPr>
            <p:cNvPr id="287" name="圆角矩形 2"/>
            <p:cNvSpPr/>
            <p:nvPr/>
          </p:nvSpPr>
          <p:spPr>
            <a:xfrm>
              <a:off x="0" y="7931"/>
              <a:ext cx="826707" cy="830177"/>
            </a:xfrm>
            <a:prstGeom prst="roundRect">
              <a:avLst>
                <a:gd name="adj" fmla="val 16667"/>
              </a:avLst>
            </a:prstGeom>
            <a:solidFill>
              <a:srgbClr val="7E9B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288" name="图形 3" descr="图形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19673" y="0"/>
              <a:ext cx="587362" cy="5873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89" name="矩形 4"/>
            <p:cNvSpPr txBox="1"/>
            <p:nvPr/>
          </p:nvSpPr>
          <p:spPr>
            <a:xfrm>
              <a:off x="107285" y="583954"/>
              <a:ext cx="612141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开发用户</a:t>
              </a:r>
            </a:p>
          </p:txBody>
        </p:sp>
      </p:grpSp>
      <p:grpSp>
        <p:nvGrpSpPr>
          <p:cNvPr id="294" name="组合 5"/>
          <p:cNvGrpSpPr/>
          <p:nvPr/>
        </p:nvGrpSpPr>
        <p:grpSpPr>
          <a:xfrm>
            <a:off x="5256725" y="1142529"/>
            <a:ext cx="1688380" cy="1836546"/>
            <a:chOff x="0" y="0"/>
            <a:chExt cx="1688378" cy="1836545"/>
          </a:xfrm>
        </p:grpSpPr>
        <p:sp>
          <p:nvSpPr>
            <p:cNvPr id="291" name="圆角矩形 6"/>
            <p:cNvSpPr/>
            <p:nvPr/>
          </p:nvSpPr>
          <p:spPr>
            <a:xfrm>
              <a:off x="0" y="0"/>
              <a:ext cx="826706" cy="830175"/>
            </a:xfrm>
            <a:prstGeom prst="roundRect">
              <a:avLst>
                <a:gd name="adj" fmla="val 16667"/>
              </a:avLst>
            </a:prstGeom>
            <a:solidFill>
              <a:srgbClr val="7E9B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2" name="矩形 7"/>
            <p:cNvSpPr/>
            <p:nvPr/>
          </p:nvSpPr>
          <p:spPr>
            <a:xfrm>
              <a:off x="418378" y="566545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运维用户</a:t>
              </a:r>
            </a:p>
          </p:txBody>
        </p:sp>
        <p:pic>
          <p:nvPicPr>
            <p:cNvPr id="293" name="图形 3" descr="图形 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24698" y="21737"/>
              <a:ext cx="587362" cy="58736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298" name="组合 9"/>
          <p:cNvGrpSpPr/>
          <p:nvPr/>
        </p:nvGrpSpPr>
        <p:grpSpPr>
          <a:xfrm>
            <a:off x="8483178" y="1093519"/>
            <a:ext cx="826707" cy="853729"/>
            <a:chOff x="0" y="0"/>
            <a:chExt cx="826706" cy="853728"/>
          </a:xfrm>
        </p:grpSpPr>
        <p:sp>
          <p:nvSpPr>
            <p:cNvPr id="295" name="圆角矩形 10"/>
            <p:cNvSpPr/>
            <p:nvPr/>
          </p:nvSpPr>
          <p:spPr>
            <a:xfrm>
              <a:off x="0" y="17941"/>
              <a:ext cx="826707" cy="830177"/>
            </a:xfrm>
            <a:prstGeom prst="roundRect">
              <a:avLst>
                <a:gd name="adj" fmla="val 16667"/>
              </a:avLst>
            </a:prstGeom>
            <a:solidFill>
              <a:srgbClr val="7E9BD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6" name="矩形 11"/>
            <p:cNvSpPr txBox="1"/>
            <p:nvPr/>
          </p:nvSpPr>
          <p:spPr>
            <a:xfrm>
              <a:off x="112308" y="584488"/>
              <a:ext cx="612141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1000">
                  <a:solidFill>
                    <a:srgbClr val="FFFFFF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lvl1pPr>
            </a:lstStyle>
            <a:p>
              <a:pPr/>
              <a:r>
                <a:t>管理用户</a:t>
              </a:r>
            </a:p>
          </p:txBody>
        </p:sp>
        <p:pic>
          <p:nvPicPr>
            <p:cNvPr id="297" name="图形 12" descr="图形 1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24553" y="0"/>
              <a:ext cx="587362" cy="58736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13" name="组合 17"/>
          <p:cNvGrpSpPr/>
          <p:nvPr/>
        </p:nvGrpSpPr>
        <p:grpSpPr>
          <a:xfrm>
            <a:off x="982236" y="3084628"/>
            <a:ext cx="3553882" cy="869937"/>
            <a:chOff x="0" y="0"/>
            <a:chExt cx="3553881" cy="869936"/>
          </a:xfrm>
        </p:grpSpPr>
        <p:sp>
          <p:nvSpPr>
            <p:cNvPr id="299" name="矩形 18"/>
            <p:cNvSpPr/>
            <p:nvPr/>
          </p:nvSpPr>
          <p:spPr>
            <a:xfrm>
              <a:off x="0" y="2244"/>
              <a:ext cx="3553882" cy="86769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3193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302" name="矩形 19"/>
            <p:cNvGrpSpPr/>
            <p:nvPr/>
          </p:nvGrpSpPr>
          <p:grpSpPr>
            <a:xfrm>
              <a:off x="0" y="-1"/>
              <a:ext cx="566133" cy="867693"/>
              <a:chOff x="0" y="0"/>
              <a:chExt cx="566132" cy="867691"/>
            </a:xfrm>
          </p:grpSpPr>
          <p:sp>
            <p:nvSpPr>
              <p:cNvPr id="300" name="矩形"/>
              <p:cNvSpPr/>
              <p:nvPr/>
            </p:nvSpPr>
            <p:spPr>
              <a:xfrm>
                <a:off x="-1" y="-1"/>
                <a:ext cx="566134" cy="867693"/>
              </a:xfrm>
              <a:prstGeom prst="rect">
                <a:avLst/>
              </a:prstGeom>
              <a:solidFill>
                <a:srgbClr val="13193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301" name="监控…"/>
              <p:cNvSpPr txBox="1"/>
              <p:nvPr/>
            </p:nvSpPr>
            <p:spPr>
              <a:xfrm>
                <a:off x="45719" y="210325"/>
                <a:ext cx="474693" cy="447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监控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面板</a:t>
                </a:r>
              </a:p>
            </p:txBody>
          </p:sp>
        </p:grpSp>
        <p:grpSp>
          <p:nvGrpSpPr>
            <p:cNvPr id="305" name="矩形 20"/>
            <p:cNvGrpSpPr/>
            <p:nvPr/>
          </p:nvGrpSpPr>
          <p:grpSpPr>
            <a:xfrm>
              <a:off x="698514" y="98653"/>
              <a:ext cx="1286665" cy="289695"/>
              <a:chOff x="0" y="0"/>
              <a:chExt cx="1286663" cy="289693"/>
            </a:xfrm>
          </p:grpSpPr>
          <p:sp>
            <p:nvSpPr>
              <p:cNvPr id="303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4" name="全局概览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全局概览</a:t>
                </a:r>
              </a:p>
            </p:txBody>
          </p:sp>
        </p:grpSp>
        <p:grpSp>
          <p:nvGrpSpPr>
            <p:cNvPr id="308" name="矩形 21"/>
            <p:cNvGrpSpPr/>
            <p:nvPr/>
          </p:nvGrpSpPr>
          <p:grpSpPr>
            <a:xfrm>
              <a:off x="698478" y="468129"/>
              <a:ext cx="1286665" cy="289695"/>
              <a:chOff x="0" y="0"/>
              <a:chExt cx="1286663" cy="289693"/>
            </a:xfrm>
          </p:grpSpPr>
          <p:sp>
            <p:nvSpPr>
              <p:cNvPr id="306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07" name="服务器看板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服务器看板</a:t>
                </a:r>
              </a:p>
            </p:txBody>
          </p:sp>
        </p:grpSp>
        <p:grpSp>
          <p:nvGrpSpPr>
            <p:cNvPr id="311" name="矩形 22"/>
            <p:cNvGrpSpPr/>
            <p:nvPr/>
          </p:nvGrpSpPr>
          <p:grpSpPr>
            <a:xfrm>
              <a:off x="2081550" y="98653"/>
              <a:ext cx="1286665" cy="289695"/>
              <a:chOff x="0" y="0"/>
              <a:chExt cx="1286663" cy="289693"/>
            </a:xfrm>
          </p:grpSpPr>
          <p:sp>
            <p:nvSpPr>
              <p:cNvPr id="309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10" name="监控分析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监控分析</a:t>
                </a:r>
              </a:p>
            </p:txBody>
          </p:sp>
        </p:grpSp>
        <p:sp>
          <p:nvSpPr>
            <p:cNvPr id="312" name="矩形 23"/>
            <p:cNvSpPr/>
            <p:nvPr/>
          </p:nvSpPr>
          <p:spPr>
            <a:xfrm>
              <a:off x="2081514" y="468129"/>
              <a:ext cx="1286665" cy="289695"/>
            </a:xfrm>
            <a:prstGeom prst="rect">
              <a:avLst/>
            </a:prstGeom>
            <a:solidFill>
              <a:srgbClr val="30408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应用看板</a:t>
              </a:r>
            </a:p>
          </p:txBody>
        </p:sp>
      </p:grpSp>
      <p:grpSp>
        <p:nvGrpSpPr>
          <p:cNvPr id="343" name="组合 24"/>
          <p:cNvGrpSpPr/>
          <p:nvPr/>
        </p:nvGrpSpPr>
        <p:grpSpPr>
          <a:xfrm>
            <a:off x="978536" y="5096185"/>
            <a:ext cx="10849758" cy="869937"/>
            <a:chOff x="0" y="0"/>
            <a:chExt cx="10849756" cy="869936"/>
          </a:xfrm>
        </p:grpSpPr>
        <p:grpSp>
          <p:nvGrpSpPr>
            <p:cNvPr id="324" name="组合 25"/>
            <p:cNvGrpSpPr/>
            <p:nvPr/>
          </p:nvGrpSpPr>
          <p:grpSpPr>
            <a:xfrm>
              <a:off x="-1" y="-1"/>
              <a:ext cx="10849758" cy="869938"/>
              <a:chOff x="0" y="0"/>
              <a:chExt cx="10849756" cy="869936"/>
            </a:xfrm>
          </p:grpSpPr>
          <p:sp>
            <p:nvSpPr>
              <p:cNvPr id="314" name="矩形 32"/>
              <p:cNvSpPr/>
              <p:nvPr/>
            </p:nvSpPr>
            <p:spPr>
              <a:xfrm>
                <a:off x="-1" y="2244"/>
                <a:ext cx="10849758" cy="867693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44BE9B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rgbClr val="000000"/>
                    </a:solidFill>
                  </a:defRPr>
                </a:pPr>
              </a:p>
            </p:txBody>
          </p:sp>
          <p:grpSp>
            <p:nvGrpSpPr>
              <p:cNvPr id="317" name="矩形 33"/>
              <p:cNvGrpSpPr/>
              <p:nvPr/>
            </p:nvGrpSpPr>
            <p:grpSpPr>
              <a:xfrm>
                <a:off x="0" y="-1"/>
                <a:ext cx="563448" cy="867693"/>
                <a:chOff x="0" y="0"/>
                <a:chExt cx="563446" cy="867691"/>
              </a:xfrm>
            </p:grpSpPr>
            <p:sp>
              <p:nvSpPr>
                <p:cNvPr id="315" name="矩形"/>
                <p:cNvSpPr/>
                <p:nvPr/>
              </p:nvSpPr>
              <p:spPr>
                <a:xfrm>
                  <a:off x="0" y="-1"/>
                  <a:ext cx="563447" cy="867693"/>
                </a:xfrm>
                <a:prstGeom prst="rect">
                  <a:avLst/>
                </a:prstGeom>
                <a:solidFill>
                  <a:srgbClr val="44BE9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18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16" name="基础…"/>
                <p:cNvSpPr txBox="1"/>
                <p:nvPr/>
              </p:nvSpPr>
              <p:spPr>
                <a:xfrm>
                  <a:off x="45720" y="210325"/>
                  <a:ext cx="472007" cy="4470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defRPr sz="1000">
                      <a:solidFill>
                        <a:srgbClr val="FFFFFF"/>
                      </a:solidFill>
                    </a:defRPr>
                  </a:pPr>
                  <a:r>
                    <a:t>基础</a:t>
                  </a:r>
                </a:p>
                <a:p>
                  <a:pPr algn="ctr">
                    <a:defRPr sz="1000">
                      <a:solidFill>
                        <a:srgbClr val="FFFFFF"/>
                      </a:solidFill>
                    </a:defRPr>
                  </a:pPr>
                  <a:r>
                    <a:t>服务</a:t>
                  </a:r>
                </a:p>
              </p:txBody>
            </p:sp>
          </p:grpSp>
          <p:grpSp>
            <p:nvGrpSpPr>
              <p:cNvPr id="320" name="矩形 34"/>
              <p:cNvGrpSpPr/>
              <p:nvPr/>
            </p:nvGrpSpPr>
            <p:grpSpPr>
              <a:xfrm>
                <a:off x="695201" y="94613"/>
                <a:ext cx="2423799" cy="289695"/>
                <a:chOff x="0" y="0"/>
                <a:chExt cx="2423797" cy="289693"/>
              </a:xfrm>
            </p:grpSpPr>
            <p:sp>
              <p:nvSpPr>
                <p:cNvPr id="318" name="矩形"/>
                <p:cNvSpPr/>
                <p:nvPr/>
              </p:nvSpPr>
              <p:spPr>
                <a:xfrm>
                  <a:off x="0" y="0"/>
                  <a:ext cx="2423798" cy="289694"/>
                </a:xfrm>
                <a:prstGeom prst="rect">
                  <a:avLst/>
                </a:prstGeom>
                <a:solidFill>
                  <a:srgbClr val="44BE9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319" name="人工智能服务"/>
                <p:cNvSpPr txBox="1"/>
                <p:nvPr/>
              </p:nvSpPr>
              <p:spPr>
                <a:xfrm>
                  <a:off x="45720" y="16577"/>
                  <a:ext cx="2332359" cy="2565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 sz="90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人工智能服务</a:t>
                  </a:r>
                </a:p>
              </p:txBody>
            </p:sp>
          </p:grpSp>
          <p:grpSp>
            <p:nvGrpSpPr>
              <p:cNvPr id="323" name="矩形 35"/>
              <p:cNvGrpSpPr/>
              <p:nvPr/>
            </p:nvGrpSpPr>
            <p:grpSpPr>
              <a:xfrm>
                <a:off x="695165" y="464089"/>
                <a:ext cx="2423799" cy="289695"/>
                <a:chOff x="0" y="0"/>
                <a:chExt cx="2423797" cy="289693"/>
              </a:xfrm>
            </p:grpSpPr>
            <p:sp>
              <p:nvSpPr>
                <p:cNvPr id="321" name="矩形"/>
                <p:cNvSpPr/>
                <p:nvPr/>
              </p:nvSpPr>
              <p:spPr>
                <a:xfrm>
                  <a:off x="0" y="0"/>
                  <a:ext cx="2423798" cy="289694"/>
                </a:xfrm>
                <a:prstGeom prst="rect">
                  <a:avLst/>
                </a:prstGeom>
                <a:solidFill>
                  <a:srgbClr val="44BE9B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322" name="大数据分析"/>
                <p:cNvSpPr txBox="1"/>
                <p:nvPr/>
              </p:nvSpPr>
              <p:spPr>
                <a:xfrm>
                  <a:off x="45720" y="16577"/>
                  <a:ext cx="2332359" cy="25654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>
                  <a:lvl1pPr algn="ctr">
                    <a:defRPr sz="90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大数据分析</a:t>
                  </a:r>
                </a:p>
              </p:txBody>
            </p:sp>
          </p:grpSp>
        </p:grpSp>
        <p:grpSp>
          <p:nvGrpSpPr>
            <p:cNvPr id="327" name="矩形 26"/>
            <p:cNvGrpSpPr/>
            <p:nvPr/>
          </p:nvGrpSpPr>
          <p:grpSpPr>
            <a:xfrm>
              <a:off x="3215295" y="94613"/>
              <a:ext cx="2423799" cy="289695"/>
              <a:chOff x="0" y="0"/>
              <a:chExt cx="2423797" cy="289693"/>
            </a:xfrm>
          </p:grpSpPr>
          <p:sp>
            <p:nvSpPr>
              <p:cNvPr id="325" name="矩形"/>
              <p:cNvSpPr/>
              <p:nvPr/>
            </p:nvSpPr>
            <p:spPr>
              <a:xfrm>
                <a:off x="0" y="0"/>
                <a:ext cx="2423798" cy="289694"/>
              </a:xfrm>
              <a:prstGeom prst="rect">
                <a:avLst/>
              </a:prstGeom>
              <a:solidFill>
                <a:srgbClr val="44BE9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26" name="统一网关服务"/>
              <p:cNvSpPr txBox="1"/>
              <p:nvPr/>
            </p:nvSpPr>
            <p:spPr>
              <a:xfrm>
                <a:off x="45720" y="16577"/>
                <a:ext cx="2332359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统一网关服务</a:t>
                </a:r>
              </a:p>
            </p:txBody>
          </p:sp>
        </p:grpSp>
        <p:grpSp>
          <p:nvGrpSpPr>
            <p:cNvPr id="330" name="矩形 27"/>
            <p:cNvGrpSpPr/>
            <p:nvPr/>
          </p:nvGrpSpPr>
          <p:grpSpPr>
            <a:xfrm>
              <a:off x="3215260" y="464089"/>
              <a:ext cx="2423799" cy="289695"/>
              <a:chOff x="0" y="0"/>
              <a:chExt cx="2423797" cy="289693"/>
            </a:xfrm>
          </p:grpSpPr>
          <p:sp>
            <p:nvSpPr>
              <p:cNvPr id="328" name="矩形"/>
              <p:cNvSpPr/>
              <p:nvPr/>
            </p:nvSpPr>
            <p:spPr>
              <a:xfrm>
                <a:off x="0" y="0"/>
                <a:ext cx="2423798" cy="289694"/>
              </a:xfrm>
              <a:prstGeom prst="rect">
                <a:avLst/>
              </a:prstGeom>
              <a:solidFill>
                <a:srgbClr val="44BE9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29" name="大数据存储"/>
              <p:cNvSpPr txBox="1"/>
              <p:nvPr/>
            </p:nvSpPr>
            <p:spPr>
              <a:xfrm>
                <a:off x="45720" y="16577"/>
                <a:ext cx="2332359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大数据存储</a:t>
                </a:r>
              </a:p>
            </p:txBody>
          </p:sp>
        </p:grpSp>
        <p:grpSp>
          <p:nvGrpSpPr>
            <p:cNvPr id="333" name="矩形 28"/>
            <p:cNvGrpSpPr/>
            <p:nvPr/>
          </p:nvGrpSpPr>
          <p:grpSpPr>
            <a:xfrm>
              <a:off x="5735390" y="94613"/>
              <a:ext cx="2423799" cy="289695"/>
              <a:chOff x="0" y="0"/>
              <a:chExt cx="2423797" cy="289693"/>
            </a:xfrm>
          </p:grpSpPr>
          <p:sp>
            <p:nvSpPr>
              <p:cNvPr id="331" name="矩形"/>
              <p:cNvSpPr/>
              <p:nvPr/>
            </p:nvSpPr>
            <p:spPr>
              <a:xfrm>
                <a:off x="0" y="0"/>
                <a:ext cx="2423798" cy="289694"/>
              </a:xfrm>
              <a:prstGeom prst="rect">
                <a:avLst/>
              </a:prstGeom>
              <a:solidFill>
                <a:srgbClr val="44BE9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32" name="元数据检索服务"/>
              <p:cNvSpPr txBox="1"/>
              <p:nvPr/>
            </p:nvSpPr>
            <p:spPr>
              <a:xfrm>
                <a:off x="45720" y="16577"/>
                <a:ext cx="2332359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  <a:r>
                  <a:t>元数据检索</a:t>
                </a:r>
                <a:r>
                  <a:t>服务</a:t>
                </a:r>
              </a:p>
            </p:txBody>
          </p:sp>
        </p:grpSp>
        <p:grpSp>
          <p:nvGrpSpPr>
            <p:cNvPr id="336" name="矩形 29"/>
            <p:cNvGrpSpPr/>
            <p:nvPr/>
          </p:nvGrpSpPr>
          <p:grpSpPr>
            <a:xfrm>
              <a:off x="5735355" y="464089"/>
              <a:ext cx="2423799" cy="289695"/>
              <a:chOff x="0" y="0"/>
              <a:chExt cx="2423797" cy="289693"/>
            </a:xfrm>
          </p:grpSpPr>
          <p:sp>
            <p:nvSpPr>
              <p:cNvPr id="334" name="矩形"/>
              <p:cNvSpPr/>
              <p:nvPr/>
            </p:nvSpPr>
            <p:spPr>
              <a:xfrm>
                <a:off x="0" y="0"/>
                <a:ext cx="2423798" cy="289694"/>
              </a:xfrm>
              <a:prstGeom prst="rect">
                <a:avLst/>
              </a:prstGeom>
              <a:solidFill>
                <a:srgbClr val="44BE9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35" name="容器化服务"/>
              <p:cNvSpPr txBox="1"/>
              <p:nvPr/>
            </p:nvSpPr>
            <p:spPr>
              <a:xfrm>
                <a:off x="45720" y="16577"/>
                <a:ext cx="2332359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容器化服务</a:t>
                </a:r>
              </a:p>
            </p:txBody>
          </p:sp>
        </p:grpSp>
        <p:grpSp>
          <p:nvGrpSpPr>
            <p:cNvPr id="339" name="矩形 30"/>
            <p:cNvGrpSpPr/>
            <p:nvPr/>
          </p:nvGrpSpPr>
          <p:grpSpPr>
            <a:xfrm>
              <a:off x="8255486" y="94613"/>
              <a:ext cx="2423799" cy="289695"/>
              <a:chOff x="0" y="0"/>
              <a:chExt cx="2423797" cy="289693"/>
            </a:xfrm>
          </p:grpSpPr>
          <p:sp>
            <p:nvSpPr>
              <p:cNvPr id="337" name="矩形"/>
              <p:cNvSpPr/>
              <p:nvPr/>
            </p:nvSpPr>
            <p:spPr>
              <a:xfrm>
                <a:off x="0" y="0"/>
                <a:ext cx="2423798" cy="289694"/>
              </a:xfrm>
              <a:prstGeom prst="rect">
                <a:avLst/>
              </a:prstGeom>
              <a:solidFill>
                <a:srgbClr val="44BE9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38" name="缓存数据服务"/>
              <p:cNvSpPr txBox="1"/>
              <p:nvPr/>
            </p:nvSpPr>
            <p:spPr>
              <a:xfrm>
                <a:off x="45720" y="16577"/>
                <a:ext cx="2332359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缓存数据服务</a:t>
                </a:r>
              </a:p>
            </p:txBody>
          </p:sp>
        </p:grpSp>
        <p:grpSp>
          <p:nvGrpSpPr>
            <p:cNvPr id="342" name="矩形 31"/>
            <p:cNvGrpSpPr/>
            <p:nvPr/>
          </p:nvGrpSpPr>
          <p:grpSpPr>
            <a:xfrm>
              <a:off x="8255451" y="464089"/>
              <a:ext cx="2423799" cy="289695"/>
              <a:chOff x="0" y="0"/>
              <a:chExt cx="2423797" cy="289693"/>
            </a:xfrm>
          </p:grpSpPr>
          <p:sp>
            <p:nvSpPr>
              <p:cNvPr id="340" name="矩形"/>
              <p:cNvSpPr/>
              <p:nvPr/>
            </p:nvSpPr>
            <p:spPr>
              <a:xfrm>
                <a:off x="0" y="0"/>
                <a:ext cx="2423798" cy="289694"/>
              </a:xfrm>
              <a:prstGeom prst="rect">
                <a:avLst/>
              </a:prstGeom>
              <a:solidFill>
                <a:srgbClr val="44BE9B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41" name="代理服务"/>
              <p:cNvSpPr txBox="1"/>
              <p:nvPr/>
            </p:nvSpPr>
            <p:spPr>
              <a:xfrm>
                <a:off x="45720" y="16577"/>
                <a:ext cx="2332359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代理服务</a:t>
                </a:r>
              </a:p>
            </p:txBody>
          </p:sp>
        </p:grpSp>
      </p:grpSp>
      <p:grpSp>
        <p:nvGrpSpPr>
          <p:cNvPr id="355" name="组合 36"/>
          <p:cNvGrpSpPr/>
          <p:nvPr/>
        </p:nvGrpSpPr>
        <p:grpSpPr>
          <a:xfrm>
            <a:off x="978536" y="2161251"/>
            <a:ext cx="10849758" cy="761351"/>
            <a:chOff x="0" y="0"/>
            <a:chExt cx="10849756" cy="761349"/>
          </a:xfrm>
        </p:grpSpPr>
        <p:grpSp>
          <p:nvGrpSpPr>
            <p:cNvPr id="351" name="组合 37"/>
            <p:cNvGrpSpPr/>
            <p:nvPr/>
          </p:nvGrpSpPr>
          <p:grpSpPr>
            <a:xfrm>
              <a:off x="-1" y="0"/>
              <a:ext cx="10849758" cy="761350"/>
              <a:chOff x="0" y="0"/>
              <a:chExt cx="10849756" cy="761349"/>
            </a:xfrm>
          </p:grpSpPr>
          <p:sp>
            <p:nvSpPr>
              <p:cNvPr id="344" name="矩形 41"/>
              <p:cNvSpPr/>
              <p:nvPr/>
            </p:nvSpPr>
            <p:spPr>
              <a:xfrm>
                <a:off x="-1" y="3378"/>
                <a:ext cx="10849758" cy="751048"/>
              </a:xfrm>
              <a:prstGeom prst="rect">
                <a:avLst/>
              </a:prstGeom>
              <a:solidFill>
                <a:srgbClr val="FFFFFF"/>
              </a:solidFill>
              <a:ln w="12700" cap="flat">
                <a:solidFill>
                  <a:srgbClr val="3F54AF"/>
                </a:solidFill>
                <a:prstDash val="solid"/>
                <a:miter lim="8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rgbClr val="000000"/>
                    </a:solidFill>
                  </a:defRPr>
                </a:pPr>
              </a:p>
            </p:txBody>
          </p:sp>
          <p:grpSp>
            <p:nvGrpSpPr>
              <p:cNvPr id="347" name="矩形 42"/>
              <p:cNvGrpSpPr/>
              <p:nvPr/>
            </p:nvGrpSpPr>
            <p:grpSpPr>
              <a:xfrm>
                <a:off x="-1" y="0"/>
                <a:ext cx="566133" cy="761350"/>
                <a:chOff x="0" y="0"/>
                <a:chExt cx="566132" cy="761349"/>
              </a:xfrm>
            </p:grpSpPr>
            <p:sp>
              <p:nvSpPr>
                <p:cNvPr id="345" name="矩形"/>
                <p:cNvSpPr/>
                <p:nvPr/>
              </p:nvSpPr>
              <p:spPr>
                <a:xfrm>
                  <a:off x="-1" y="0"/>
                  <a:ext cx="566134" cy="761350"/>
                </a:xfrm>
                <a:prstGeom prst="rect">
                  <a:avLst/>
                </a:prstGeom>
                <a:solidFill>
                  <a:srgbClr val="3F54A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1800">
                      <a:solidFill>
                        <a:srgbClr val="000000"/>
                      </a:solidFill>
                    </a:defRPr>
                  </a:pPr>
                </a:p>
              </p:txBody>
            </p:sp>
            <p:sp>
              <p:nvSpPr>
                <p:cNvPr id="346" name="应用…"/>
                <p:cNvSpPr txBox="1"/>
                <p:nvPr/>
              </p:nvSpPr>
              <p:spPr>
                <a:xfrm>
                  <a:off x="45719" y="157154"/>
                  <a:ext cx="474693" cy="4470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spAutoFit/>
                </a:bodyPr>
                <a:lstStyle/>
                <a:p>
                  <a:pPr algn="ctr">
                    <a:defRPr sz="1000">
                      <a:solidFill>
                        <a:srgbClr val="FFFFFF"/>
                      </a:solidFill>
                    </a:defRPr>
                  </a:pPr>
                  <a:r>
                    <a:t>应用</a:t>
                  </a:r>
                </a:p>
                <a:p>
                  <a:pPr algn="ctr">
                    <a:defRPr sz="1000">
                      <a:solidFill>
                        <a:srgbClr val="FFFFFF"/>
                      </a:solidFill>
                    </a:defRPr>
                  </a:pPr>
                  <a:r>
                    <a:t>服务</a:t>
                  </a:r>
                </a:p>
              </p:txBody>
            </p:sp>
          </p:grpSp>
          <p:grpSp>
            <p:nvGrpSpPr>
              <p:cNvPr id="350" name="矩形 43"/>
              <p:cNvGrpSpPr/>
              <p:nvPr/>
            </p:nvGrpSpPr>
            <p:grpSpPr>
              <a:xfrm>
                <a:off x="702362" y="160919"/>
                <a:ext cx="4365202" cy="435966"/>
                <a:chOff x="0" y="0"/>
                <a:chExt cx="4365200" cy="435965"/>
              </a:xfrm>
            </p:grpSpPr>
            <p:sp>
              <p:nvSpPr>
                <p:cNvPr id="348" name="矩形"/>
                <p:cNvSpPr/>
                <p:nvPr/>
              </p:nvSpPr>
              <p:spPr>
                <a:xfrm>
                  <a:off x="0" y="-1"/>
                  <a:ext cx="4365202" cy="435967"/>
                </a:xfrm>
                <a:prstGeom prst="rect">
                  <a:avLst/>
                </a:prstGeom>
                <a:solidFill>
                  <a:srgbClr val="6275C6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pPr algn="ctr">
                    <a:defRPr sz="900">
                      <a:solidFill>
                        <a:srgbClr val="FFFFFF"/>
                      </a:solidFill>
                    </a:defRPr>
                  </a:pPr>
                </a:p>
              </p:txBody>
            </p:sp>
            <p:sp>
              <p:nvSpPr>
                <p:cNvPr id="349" name="PC 网页"/>
                <p:cNvSpPr txBox="1"/>
                <p:nvPr/>
              </p:nvSpPr>
              <p:spPr>
                <a:xfrm>
                  <a:off x="81950" y="89712"/>
                  <a:ext cx="4201301" cy="25654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5719" tIns="45719" rIns="45719" bIns="45719" numCol="1" anchor="ctr">
                  <a:noAutofit/>
                </a:bodyPr>
                <a:lstStyle>
                  <a:lvl1pPr algn="ctr">
                    <a:defRPr sz="90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PC 网页</a:t>
                  </a:r>
                </a:p>
              </p:txBody>
            </p:sp>
          </p:grpSp>
        </p:grpSp>
        <p:grpSp>
          <p:nvGrpSpPr>
            <p:cNvPr id="354" name="矩形 38"/>
            <p:cNvGrpSpPr/>
            <p:nvPr/>
          </p:nvGrpSpPr>
          <p:grpSpPr>
            <a:xfrm>
              <a:off x="5283188" y="162692"/>
              <a:ext cx="5171020" cy="435966"/>
              <a:chOff x="0" y="0"/>
              <a:chExt cx="5171019" cy="435965"/>
            </a:xfrm>
          </p:grpSpPr>
          <p:sp>
            <p:nvSpPr>
              <p:cNvPr id="352" name="矩形"/>
              <p:cNvSpPr/>
              <p:nvPr/>
            </p:nvSpPr>
            <p:spPr>
              <a:xfrm>
                <a:off x="0" y="-1"/>
                <a:ext cx="5171020" cy="435967"/>
              </a:xfrm>
              <a:prstGeom prst="rect">
                <a:avLst/>
              </a:prstGeom>
              <a:solidFill>
                <a:srgbClr val="6275C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53" name="APP（提供监控分析/便捷操作/基本查询功能）"/>
              <p:cNvSpPr txBox="1"/>
              <p:nvPr/>
            </p:nvSpPr>
            <p:spPr>
              <a:xfrm>
                <a:off x="97078" y="89712"/>
                <a:ext cx="4976864" cy="2565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no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APP（提供监控分析/便捷操作/基本查询功能）</a:t>
                </a:r>
              </a:p>
            </p:txBody>
          </p:sp>
        </p:grpSp>
      </p:grpSp>
      <p:pic>
        <p:nvPicPr>
          <p:cNvPr id="356" name="图形 44" descr="图形 4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5247" y="2209888"/>
            <a:ext cx="592413" cy="592413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" name="图形 45" descr="图形 4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25245" y="5149586"/>
            <a:ext cx="641208" cy="64120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0" name="组合 46"/>
          <p:cNvGrpSpPr/>
          <p:nvPr/>
        </p:nvGrpSpPr>
        <p:grpSpPr>
          <a:xfrm>
            <a:off x="982236" y="4059982"/>
            <a:ext cx="3553882" cy="869937"/>
            <a:chOff x="0" y="0"/>
            <a:chExt cx="3553881" cy="869936"/>
          </a:xfrm>
        </p:grpSpPr>
        <p:sp>
          <p:nvSpPr>
            <p:cNvPr id="358" name="矩形 47"/>
            <p:cNvSpPr/>
            <p:nvPr/>
          </p:nvSpPr>
          <p:spPr>
            <a:xfrm>
              <a:off x="0" y="2244"/>
              <a:ext cx="3553882" cy="86769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3193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361" name="矩形 48"/>
            <p:cNvGrpSpPr/>
            <p:nvPr/>
          </p:nvGrpSpPr>
          <p:grpSpPr>
            <a:xfrm>
              <a:off x="0" y="-1"/>
              <a:ext cx="566133" cy="867693"/>
              <a:chOff x="0" y="0"/>
              <a:chExt cx="566132" cy="867691"/>
            </a:xfrm>
          </p:grpSpPr>
          <p:sp>
            <p:nvSpPr>
              <p:cNvPr id="359" name="矩形"/>
              <p:cNvSpPr/>
              <p:nvPr/>
            </p:nvSpPr>
            <p:spPr>
              <a:xfrm>
                <a:off x="-1" y="-1"/>
                <a:ext cx="566134" cy="867693"/>
              </a:xfrm>
              <a:prstGeom prst="rect">
                <a:avLst/>
              </a:prstGeom>
              <a:solidFill>
                <a:srgbClr val="13193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0" name="资产…"/>
              <p:cNvSpPr txBox="1"/>
              <p:nvPr/>
            </p:nvSpPr>
            <p:spPr>
              <a:xfrm>
                <a:off x="45719" y="210325"/>
                <a:ext cx="474693" cy="447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资产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管理</a:t>
                </a:r>
              </a:p>
            </p:txBody>
          </p:sp>
        </p:grpSp>
        <p:grpSp>
          <p:nvGrpSpPr>
            <p:cNvPr id="364" name="矩形 49"/>
            <p:cNvGrpSpPr/>
            <p:nvPr/>
          </p:nvGrpSpPr>
          <p:grpSpPr>
            <a:xfrm>
              <a:off x="698514" y="98653"/>
              <a:ext cx="1286665" cy="289695"/>
              <a:chOff x="0" y="0"/>
              <a:chExt cx="1286663" cy="289693"/>
            </a:xfrm>
          </p:grpSpPr>
          <p:sp>
            <p:nvSpPr>
              <p:cNvPr id="362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3" name="服务器列表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服务器列表</a:t>
                </a:r>
              </a:p>
            </p:txBody>
          </p:sp>
        </p:grpSp>
        <p:sp>
          <p:nvSpPr>
            <p:cNvPr id="365" name="矩形 50"/>
            <p:cNvSpPr/>
            <p:nvPr/>
          </p:nvSpPr>
          <p:spPr>
            <a:xfrm>
              <a:off x="698478" y="468129"/>
              <a:ext cx="1286665" cy="289695"/>
            </a:xfrm>
            <a:prstGeom prst="rect">
              <a:avLst/>
            </a:prstGeom>
            <a:solidFill>
              <a:srgbClr val="304086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ChatAI *</a:t>
              </a:r>
            </a:p>
          </p:txBody>
        </p:sp>
        <p:grpSp>
          <p:nvGrpSpPr>
            <p:cNvPr id="368" name="矩形 51"/>
            <p:cNvGrpSpPr/>
            <p:nvPr/>
          </p:nvGrpSpPr>
          <p:grpSpPr>
            <a:xfrm>
              <a:off x="2081550" y="98653"/>
              <a:ext cx="1286665" cy="289695"/>
              <a:chOff x="0" y="0"/>
              <a:chExt cx="1286663" cy="289693"/>
            </a:xfrm>
          </p:grpSpPr>
          <p:sp>
            <p:nvSpPr>
              <p:cNvPr id="366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67" name="应用列表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应用列表</a:t>
                </a:r>
              </a:p>
            </p:txBody>
          </p:sp>
        </p:grpSp>
        <p:sp>
          <p:nvSpPr>
            <p:cNvPr id="369" name="矩形 52"/>
            <p:cNvSpPr/>
            <p:nvPr/>
          </p:nvSpPr>
          <p:spPr>
            <a:xfrm>
              <a:off x="2081514" y="468129"/>
              <a:ext cx="1286665" cy="289695"/>
            </a:xfrm>
            <a:prstGeom prst="rect">
              <a:avLst/>
            </a:prstGeom>
            <a:solidFill>
              <a:srgbClr val="30408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385" name="组合 53"/>
          <p:cNvGrpSpPr/>
          <p:nvPr/>
        </p:nvGrpSpPr>
        <p:grpSpPr>
          <a:xfrm>
            <a:off x="4628322" y="3084628"/>
            <a:ext cx="3553883" cy="869937"/>
            <a:chOff x="0" y="0"/>
            <a:chExt cx="3553881" cy="869936"/>
          </a:xfrm>
        </p:grpSpPr>
        <p:sp>
          <p:nvSpPr>
            <p:cNvPr id="371" name="矩形 54"/>
            <p:cNvSpPr/>
            <p:nvPr/>
          </p:nvSpPr>
          <p:spPr>
            <a:xfrm>
              <a:off x="0" y="2244"/>
              <a:ext cx="3553882" cy="867693"/>
            </a:xfrm>
            <a:prstGeom prst="rect">
              <a:avLst/>
            </a:prstGeom>
            <a:noFill/>
            <a:ln w="12700" cap="flat">
              <a:solidFill>
                <a:srgbClr val="13193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374" name="矩形 55"/>
            <p:cNvGrpSpPr/>
            <p:nvPr/>
          </p:nvGrpSpPr>
          <p:grpSpPr>
            <a:xfrm>
              <a:off x="0" y="-1"/>
              <a:ext cx="566133" cy="867693"/>
              <a:chOff x="0" y="0"/>
              <a:chExt cx="566132" cy="867691"/>
            </a:xfrm>
          </p:grpSpPr>
          <p:sp>
            <p:nvSpPr>
              <p:cNvPr id="372" name="矩形"/>
              <p:cNvSpPr/>
              <p:nvPr/>
            </p:nvSpPr>
            <p:spPr>
              <a:xfrm>
                <a:off x="-1" y="-1"/>
                <a:ext cx="566134" cy="867693"/>
              </a:xfrm>
              <a:prstGeom prst="rect">
                <a:avLst/>
              </a:prstGeom>
              <a:solidFill>
                <a:srgbClr val="13193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73" name="应用…"/>
              <p:cNvSpPr txBox="1"/>
              <p:nvPr/>
            </p:nvSpPr>
            <p:spPr>
              <a:xfrm>
                <a:off x="45719" y="210325"/>
                <a:ext cx="474693" cy="447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应用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商店</a:t>
                </a:r>
              </a:p>
            </p:txBody>
          </p:sp>
        </p:grpSp>
        <p:grpSp>
          <p:nvGrpSpPr>
            <p:cNvPr id="377" name="矩形 56"/>
            <p:cNvGrpSpPr/>
            <p:nvPr/>
          </p:nvGrpSpPr>
          <p:grpSpPr>
            <a:xfrm>
              <a:off x="698514" y="98653"/>
              <a:ext cx="1286665" cy="289695"/>
              <a:chOff x="0" y="0"/>
              <a:chExt cx="1286663" cy="289693"/>
            </a:xfrm>
          </p:grpSpPr>
          <p:sp>
            <p:nvSpPr>
              <p:cNvPr id="375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76" name="应用列表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应用列表</a:t>
                </a:r>
              </a:p>
            </p:txBody>
          </p:sp>
        </p:grpSp>
        <p:grpSp>
          <p:nvGrpSpPr>
            <p:cNvPr id="380" name="矩形 57"/>
            <p:cNvGrpSpPr/>
            <p:nvPr/>
          </p:nvGrpSpPr>
          <p:grpSpPr>
            <a:xfrm>
              <a:off x="698478" y="468129"/>
              <a:ext cx="1286665" cy="289695"/>
              <a:chOff x="0" y="0"/>
              <a:chExt cx="1286663" cy="289693"/>
            </a:xfrm>
          </p:grpSpPr>
          <p:sp>
            <p:nvSpPr>
              <p:cNvPr id="378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79" name="系统源配置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系统源配置</a:t>
                </a:r>
              </a:p>
            </p:txBody>
          </p:sp>
        </p:grpSp>
        <p:grpSp>
          <p:nvGrpSpPr>
            <p:cNvPr id="383" name="矩形 58"/>
            <p:cNvGrpSpPr/>
            <p:nvPr/>
          </p:nvGrpSpPr>
          <p:grpSpPr>
            <a:xfrm>
              <a:off x="2081550" y="98653"/>
              <a:ext cx="1286665" cy="289695"/>
              <a:chOff x="0" y="0"/>
              <a:chExt cx="1286663" cy="289693"/>
            </a:xfrm>
          </p:grpSpPr>
          <p:sp>
            <p:nvSpPr>
              <p:cNvPr id="381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82" name="一键部署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一键部署</a:t>
                </a:r>
              </a:p>
            </p:txBody>
          </p:sp>
        </p:grpSp>
        <p:sp>
          <p:nvSpPr>
            <p:cNvPr id="384" name="矩形 59"/>
            <p:cNvSpPr/>
            <p:nvPr/>
          </p:nvSpPr>
          <p:spPr>
            <a:xfrm>
              <a:off x="2081514" y="468129"/>
              <a:ext cx="1286665" cy="289695"/>
            </a:xfrm>
            <a:prstGeom prst="rect">
              <a:avLst/>
            </a:prstGeom>
            <a:solidFill>
              <a:srgbClr val="30408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00" name="组合 60"/>
          <p:cNvGrpSpPr/>
          <p:nvPr/>
        </p:nvGrpSpPr>
        <p:grpSpPr>
          <a:xfrm>
            <a:off x="8274411" y="3084628"/>
            <a:ext cx="3553883" cy="869937"/>
            <a:chOff x="0" y="0"/>
            <a:chExt cx="3553881" cy="869936"/>
          </a:xfrm>
        </p:grpSpPr>
        <p:sp>
          <p:nvSpPr>
            <p:cNvPr id="386" name="矩形 61"/>
            <p:cNvSpPr/>
            <p:nvPr/>
          </p:nvSpPr>
          <p:spPr>
            <a:xfrm>
              <a:off x="0" y="2244"/>
              <a:ext cx="3553882" cy="86769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3193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389" name="矩形 62"/>
            <p:cNvGrpSpPr/>
            <p:nvPr/>
          </p:nvGrpSpPr>
          <p:grpSpPr>
            <a:xfrm>
              <a:off x="0" y="-1"/>
              <a:ext cx="566133" cy="867693"/>
              <a:chOff x="0" y="0"/>
              <a:chExt cx="566132" cy="867691"/>
            </a:xfrm>
          </p:grpSpPr>
          <p:sp>
            <p:nvSpPr>
              <p:cNvPr id="387" name="矩形"/>
              <p:cNvSpPr/>
              <p:nvPr/>
            </p:nvSpPr>
            <p:spPr>
              <a:xfrm>
                <a:off x="-1" y="-1"/>
                <a:ext cx="566134" cy="867693"/>
              </a:xfrm>
              <a:prstGeom prst="rect">
                <a:avLst/>
              </a:prstGeom>
              <a:solidFill>
                <a:srgbClr val="13193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88" name="任务…"/>
              <p:cNvSpPr txBox="1"/>
              <p:nvPr/>
            </p:nvSpPr>
            <p:spPr>
              <a:xfrm>
                <a:off x="45719" y="210325"/>
                <a:ext cx="474693" cy="447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任务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计划</a:t>
                </a:r>
              </a:p>
            </p:txBody>
          </p:sp>
        </p:grpSp>
        <p:grpSp>
          <p:nvGrpSpPr>
            <p:cNvPr id="392" name="矩形 63"/>
            <p:cNvGrpSpPr/>
            <p:nvPr/>
          </p:nvGrpSpPr>
          <p:grpSpPr>
            <a:xfrm>
              <a:off x="698514" y="98653"/>
              <a:ext cx="1286665" cy="289695"/>
              <a:chOff x="0" y="0"/>
              <a:chExt cx="1286663" cy="289693"/>
            </a:xfrm>
          </p:grpSpPr>
          <p:sp>
            <p:nvSpPr>
              <p:cNvPr id="390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91" name="我的任务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我的任务</a:t>
                </a:r>
              </a:p>
            </p:txBody>
          </p:sp>
        </p:grpSp>
        <p:grpSp>
          <p:nvGrpSpPr>
            <p:cNvPr id="395" name="矩形 64"/>
            <p:cNvGrpSpPr/>
            <p:nvPr/>
          </p:nvGrpSpPr>
          <p:grpSpPr>
            <a:xfrm>
              <a:off x="698478" y="468129"/>
              <a:ext cx="1286665" cy="289695"/>
              <a:chOff x="0" y="0"/>
              <a:chExt cx="1286663" cy="289693"/>
            </a:xfrm>
          </p:grpSpPr>
          <p:sp>
            <p:nvSpPr>
              <p:cNvPr id="393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94" name="系统任务计划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系统任务计划</a:t>
                </a:r>
              </a:p>
            </p:txBody>
          </p:sp>
        </p:grpSp>
        <p:grpSp>
          <p:nvGrpSpPr>
            <p:cNvPr id="398" name="矩形 65"/>
            <p:cNvGrpSpPr/>
            <p:nvPr/>
          </p:nvGrpSpPr>
          <p:grpSpPr>
            <a:xfrm>
              <a:off x="2081550" y="98653"/>
              <a:ext cx="1286665" cy="289695"/>
              <a:chOff x="0" y="0"/>
              <a:chExt cx="1286663" cy="289693"/>
            </a:xfrm>
          </p:grpSpPr>
          <p:sp>
            <p:nvSpPr>
              <p:cNvPr id="396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397" name="工作面板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工作面板</a:t>
                </a:r>
              </a:p>
            </p:txBody>
          </p:sp>
        </p:grpSp>
        <p:sp>
          <p:nvSpPr>
            <p:cNvPr id="399" name="矩形 66"/>
            <p:cNvSpPr/>
            <p:nvPr/>
          </p:nvSpPr>
          <p:spPr>
            <a:xfrm>
              <a:off x="2081514" y="468129"/>
              <a:ext cx="1286665" cy="289695"/>
            </a:xfrm>
            <a:prstGeom prst="rect">
              <a:avLst/>
            </a:prstGeom>
            <a:solidFill>
              <a:srgbClr val="30408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17" name="组合 67"/>
          <p:cNvGrpSpPr/>
          <p:nvPr/>
        </p:nvGrpSpPr>
        <p:grpSpPr>
          <a:xfrm>
            <a:off x="4628322" y="4059982"/>
            <a:ext cx="3553883" cy="869937"/>
            <a:chOff x="0" y="0"/>
            <a:chExt cx="3553881" cy="869936"/>
          </a:xfrm>
        </p:grpSpPr>
        <p:sp>
          <p:nvSpPr>
            <p:cNvPr id="401" name="矩形 68"/>
            <p:cNvSpPr/>
            <p:nvPr/>
          </p:nvSpPr>
          <p:spPr>
            <a:xfrm>
              <a:off x="0" y="2244"/>
              <a:ext cx="3553882" cy="86769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13193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404" name="矩形 69"/>
            <p:cNvGrpSpPr/>
            <p:nvPr/>
          </p:nvGrpSpPr>
          <p:grpSpPr>
            <a:xfrm>
              <a:off x="0" y="-1"/>
              <a:ext cx="566133" cy="867693"/>
              <a:chOff x="0" y="0"/>
              <a:chExt cx="566132" cy="867691"/>
            </a:xfrm>
          </p:grpSpPr>
          <p:sp>
            <p:nvSpPr>
              <p:cNvPr id="402" name="矩形"/>
              <p:cNvSpPr/>
              <p:nvPr/>
            </p:nvSpPr>
            <p:spPr>
              <a:xfrm>
                <a:off x="-1" y="-1"/>
                <a:ext cx="566134" cy="867693"/>
              </a:xfrm>
              <a:prstGeom prst="rect">
                <a:avLst/>
              </a:prstGeom>
              <a:solidFill>
                <a:srgbClr val="13193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03" name="安全…"/>
              <p:cNvSpPr txBox="1"/>
              <p:nvPr/>
            </p:nvSpPr>
            <p:spPr>
              <a:xfrm>
                <a:off x="45719" y="210325"/>
                <a:ext cx="474693" cy="447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安全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管控</a:t>
                </a:r>
              </a:p>
            </p:txBody>
          </p:sp>
        </p:grpSp>
        <p:grpSp>
          <p:nvGrpSpPr>
            <p:cNvPr id="407" name="矩形 70"/>
            <p:cNvGrpSpPr/>
            <p:nvPr/>
          </p:nvGrpSpPr>
          <p:grpSpPr>
            <a:xfrm>
              <a:off x="698514" y="98653"/>
              <a:ext cx="1286665" cy="289695"/>
              <a:chOff x="0" y="0"/>
              <a:chExt cx="1286663" cy="289693"/>
            </a:xfrm>
          </p:grpSpPr>
          <p:sp>
            <p:nvSpPr>
              <p:cNvPr id="405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06" name="网关服务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网关服务</a:t>
                </a:r>
              </a:p>
            </p:txBody>
          </p:sp>
        </p:grpSp>
        <p:grpSp>
          <p:nvGrpSpPr>
            <p:cNvPr id="410" name="矩形 71"/>
            <p:cNvGrpSpPr/>
            <p:nvPr/>
          </p:nvGrpSpPr>
          <p:grpSpPr>
            <a:xfrm>
              <a:off x="698478" y="468129"/>
              <a:ext cx="1286665" cy="289695"/>
              <a:chOff x="0" y="0"/>
              <a:chExt cx="1286663" cy="289693"/>
            </a:xfrm>
          </p:grpSpPr>
          <p:sp>
            <p:nvSpPr>
              <p:cNvPr id="408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09" name="审计日志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审计日志</a:t>
                </a:r>
              </a:p>
            </p:txBody>
          </p:sp>
        </p:grpSp>
        <p:grpSp>
          <p:nvGrpSpPr>
            <p:cNvPr id="413" name="矩形 72"/>
            <p:cNvGrpSpPr/>
            <p:nvPr/>
          </p:nvGrpSpPr>
          <p:grpSpPr>
            <a:xfrm>
              <a:off x="2081550" y="98653"/>
              <a:ext cx="1286665" cy="289695"/>
              <a:chOff x="0" y="0"/>
              <a:chExt cx="1286663" cy="289693"/>
            </a:xfrm>
          </p:grpSpPr>
          <p:sp>
            <p:nvSpPr>
              <p:cNvPr id="411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12" name="防火墙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防火墙</a:t>
                </a:r>
              </a:p>
            </p:txBody>
          </p:sp>
        </p:grpSp>
        <p:grpSp>
          <p:nvGrpSpPr>
            <p:cNvPr id="416" name="矩形 73"/>
            <p:cNvGrpSpPr/>
            <p:nvPr/>
          </p:nvGrpSpPr>
          <p:grpSpPr>
            <a:xfrm>
              <a:off x="2081514" y="468129"/>
              <a:ext cx="1286665" cy="289695"/>
              <a:chOff x="0" y="0"/>
              <a:chExt cx="1286663" cy="289693"/>
            </a:xfrm>
          </p:grpSpPr>
          <p:sp>
            <p:nvSpPr>
              <p:cNvPr id="414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15" name="密钥管理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密钥管理</a:t>
                </a:r>
              </a:p>
            </p:txBody>
          </p:sp>
        </p:grpSp>
      </p:grpSp>
      <p:grpSp>
        <p:nvGrpSpPr>
          <p:cNvPr id="434" name="组合 74"/>
          <p:cNvGrpSpPr/>
          <p:nvPr/>
        </p:nvGrpSpPr>
        <p:grpSpPr>
          <a:xfrm>
            <a:off x="8274411" y="4063298"/>
            <a:ext cx="3553883" cy="869937"/>
            <a:chOff x="0" y="0"/>
            <a:chExt cx="3553881" cy="869936"/>
          </a:xfrm>
        </p:grpSpPr>
        <p:sp>
          <p:nvSpPr>
            <p:cNvPr id="418" name="矩形 75"/>
            <p:cNvSpPr/>
            <p:nvPr/>
          </p:nvSpPr>
          <p:spPr>
            <a:xfrm>
              <a:off x="0" y="2244"/>
              <a:ext cx="3553882" cy="86769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70C0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000">
                  <a:solidFill>
                    <a:srgbClr val="000000"/>
                  </a:solidFill>
                </a:defRPr>
              </a:pPr>
            </a:p>
          </p:txBody>
        </p:sp>
        <p:grpSp>
          <p:nvGrpSpPr>
            <p:cNvPr id="421" name="矩形 76"/>
            <p:cNvGrpSpPr/>
            <p:nvPr/>
          </p:nvGrpSpPr>
          <p:grpSpPr>
            <a:xfrm>
              <a:off x="0" y="-1"/>
              <a:ext cx="566133" cy="867693"/>
              <a:chOff x="0" y="0"/>
              <a:chExt cx="566132" cy="867691"/>
            </a:xfrm>
          </p:grpSpPr>
          <p:sp>
            <p:nvSpPr>
              <p:cNvPr id="419" name="矩形"/>
              <p:cNvSpPr/>
              <p:nvPr/>
            </p:nvSpPr>
            <p:spPr>
              <a:xfrm>
                <a:off x="-1" y="-1"/>
                <a:ext cx="566134" cy="867693"/>
              </a:xfrm>
              <a:prstGeom prst="rect">
                <a:avLst/>
              </a:prstGeom>
              <a:solidFill>
                <a:srgbClr val="13193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20" name="平台…"/>
              <p:cNvSpPr txBox="1"/>
              <p:nvPr/>
            </p:nvSpPr>
            <p:spPr>
              <a:xfrm>
                <a:off x="45719" y="210325"/>
                <a:ext cx="474693" cy="4470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/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平台</a:t>
                </a:r>
              </a:p>
              <a:p>
                <a:pPr algn="ctr">
                  <a:defRPr sz="1000">
                    <a:solidFill>
                      <a:srgbClr val="FFFFFF"/>
                    </a:solidFill>
                  </a:defRPr>
                </a:pPr>
                <a:r>
                  <a:t>管理</a:t>
                </a:r>
              </a:p>
            </p:txBody>
          </p:sp>
        </p:grpSp>
        <p:grpSp>
          <p:nvGrpSpPr>
            <p:cNvPr id="424" name="矩形 77"/>
            <p:cNvGrpSpPr/>
            <p:nvPr/>
          </p:nvGrpSpPr>
          <p:grpSpPr>
            <a:xfrm>
              <a:off x="698514" y="98653"/>
              <a:ext cx="1286665" cy="289695"/>
              <a:chOff x="0" y="0"/>
              <a:chExt cx="1286663" cy="289693"/>
            </a:xfrm>
          </p:grpSpPr>
          <p:sp>
            <p:nvSpPr>
              <p:cNvPr id="422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23" name="用户权限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用户权限</a:t>
                </a:r>
              </a:p>
            </p:txBody>
          </p:sp>
        </p:grpSp>
        <p:grpSp>
          <p:nvGrpSpPr>
            <p:cNvPr id="427" name="矩形 78"/>
            <p:cNvGrpSpPr/>
            <p:nvPr/>
          </p:nvGrpSpPr>
          <p:grpSpPr>
            <a:xfrm>
              <a:off x="698478" y="468129"/>
              <a:ext cx="1286665" cy="289695"/>
              <a:chOff x="0" y="0"/>
              <a:chExt cx="1286663" cy="289693"/>
            </a:xfrm>
          </p:grpSpPr>
          <p:sp>
            <p:nvSpPr>
              <p:cNvPr id="425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26" name="元数据管理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元数据管理</a:t>
                </a:r>
              </a:p>
            </p:txBody>
          </p:sp>
        </p:grpSp>
        <p:grpSp>
          <p:nvGrpSpPr>
            <p:cNvPr id="430" name="矩形 79"/>
            <p:cNvGrpSpPr/>
            <p:nvPr/>
          </p:nvGrpSpPr>
          <p:grpSpPr>
            <a:xfrm>
              <a:off x="2081550" y="98653"/>
              <a:ext cx="1286665" cy="289695"/>
              <a:chOff x="0" y="0"/>
              <a:chExt cx="1286663" cy="289693"/>
            </a:xfrm>
          </p:grpSpPr>
          <p:sp>
            <p:nvSpPr>
              <p:cNvPr id="428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29" name="服务配置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服务配置</a:t>
                </a:r>
              </a:p>
            </p:txBody>
          </p:sp>
        </p:grpSp>
        <p:grpSp>
          <p:nvGrpSpPr>
            <p:cNvPr id="433" name="矩形 80"/>
            <p:cNvGrpSpPr/>
            <p:nvPr/>
          </p:nvGrpSpPr>
          <p:grpSpPr>
            <a:xfrm>
              <a:off x="2081514" y="468129"/>
              <a:ext cx="1286665" cy="289695"/>
              <a:chOff x="0" y="0"/>
              <a:chExt cx="1286663" cy="289693"/>
            </a:xfrm>
          </p:grpSpPr>
          <p:sp>
            <p:nvSpPr>
              <p:cNvPr id="431" name="矩形"/>
              <p:cNvSpPr/>
              <p:nvPr/>
            </p:nvSpPr>
            <p:spPr>
              <a:xfrm>
                <a:off x="0" y="0"/>
                <a:ext cx="1286664" cy="289694"/>
              </a:xfrm>
              <a:prstGeom prst="rect">
                <a:avLst/>
              </a:prstGeom>
              <a:solidFill>
                <a:srgbClr val="30408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9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432" name="系统更新"/>
              <p:cNvSpPr txBox="1"/>
              <p:nvPr/>
            </p:nvSpPr>
            <p:spPr>
              <a:xfrm>
                <a:off x="45720" y="16577"/>
                <a:ext cx="1195224" cy="2565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ctr">
                <a:spAutoFit/>
              </a:bodyPr>
              <a:lstStyle>
                <a:lvl1pPr algn="ctr">
                  <a:defRPr sz="900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系统更新</a:t>
                </a:r>
              </a:p>
            </p:txBody>
          </p:sp>
        </p:grpSp>
      </p:grpSp>
      <p:sp>
        <p:nvSpPr>
          <p:cNvPr id="435" name="矩形 81"/>
          <p:cNvSpPr/>
          <p:nvPr/>
        </p:nvSpPr>
        <p:spPr>
          <a:xfrm>
            <a:off x="903446" y="3006807"/>
            <a:ext cx="10999938" cy="3042607"/>
          </a:xfrm>
          <a:prstGeom prst="rect">
            <a:avLst/>
          </a:prstGeom>
          <a:ln w="12700">
            <a:solidFill>
              <a:srgbClr val="475DBD"/>
            </a:solidFill>
            <a:prstDash val="sysDot"/>
            <a:miter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pic>
        <p:nvPicPr>
          <p:cNvPr id="436" name="图形 82" descr="图形 8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13991" y="3373470"/>
            <a:ext cx="592413" cy="592413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文本框 83"/>
          <p:cNvSpPr txBox="1"/>
          <p:nvPr/>
        </p:nvSpPr>
        <p:spPr>
          <a:xfrm>
            <a:off x="3022645" y="1201197"/>
            <a:ext cx="94869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buSzPct val="100000"/>
              <a:buChar char="●"/>
            </a:pPr>
            <a:r>
              <a:t>应用部署</a:t>
            </a:r>
          </a:p>
          <a:p>
            <a:pPr marL="285750" indent="-285750">
              <a:buSzPct val="100000"/>
              <a:buChar char="●"/>
            </a:pPr>
            <a:r>
              <a:t>资源监控</a:t>
            </a:r>
          </a:p>
          <a:p>
            <a:pPr marL="285750" indent="-285750">
              <a:buSzPct val="100000"/>
              <a:buChar char="●"/>
            </a:pPr>
            <a:r>
              <a:t>应用运维</a:t>
            </a:r>
          </a:p>
        </p:txBody>
      </p:sp>
      <p:sp>
        <p:nvSpPr>
          <p:cNvPr id="438" name="文本框 84"/>
          <p:cNvSpPr txBox="1"/>
          <p:nvPr/>
        </p:nvSpPr>
        <p:spPr>
          <a:xfrm>
            <a:off x="6163465" y="1213356"/>
            <a:ext cx="94869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buSzPct val="100000"/>
              <a:buChar char="●"/>
            </a:pPr>
            <a:r>
              <a:t>运维管理</a:t>
            </a:r>
          </a:p>
          <a:p>
            <a:pPr marL="285750" indent="-285750">
              <a:buSzPct val="100000"/>
              <a:buChar char="●"/>
            </a:pPr>
            <a:r>
              <a:t>监控分析</a:t>
            </a:r>
          </a:p>
          <a:p>
            <a:pPr marL="285750" indent="-285750">
              <a:buSzPct val="100000"/>
              <a:buChar char="●"/>
            </a:pPr>
            <a:r>
              <a:t>资源管理</a:t>
            </a:r>
          </a:p>
        </p:txBody>
      </p:sp>
      <p:sp>
        <p:nvSpPr>
          <p:cNvPr id="439" name="文本框 85"/>
          <p:cNvSpPr txBox="1"/>
          <p:nvPr/>
        </p:nvSpPr>
        <p:spPr>
          <a:xfrm>
            <a:off x="9388151" y="1181754"/>
            <a:ext cx="94869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285750" indent="-285750">
              <a:buSzPct val="100000"/>
              <a:buChar char="●"/>
            </a:pPr>
            <a:r>
              <a:t>资产盘点</a:t>
            </a:r>
          </a:p>
          <a:p>
            <a:pPr marL="285750" indent="-285750">
              <a:buSzPct val="100000"/>
              <a:buChar char="●"/>
            </a:pPr>
            <a:r>
              <a:t>总体规划</a:t>
            </a:r>
          </a:p>
          <a:p>
            <a:pPr marL="285750" indent="-285750">
              <a:buSzPct val="100000"/>
              <a:buChar char="●"/>
            </a:pPr>
            <a:r>
              <a:t>安全审计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文本框 2"/>
          <p:cNvSpPr txBox="1"/>
          <p:nvPr/>
        </p:nvSpPr>
        <p:spPr>
          <a:xfrm>
            <a:off x="939927" y="277952"/>
            <a:ext cx="2390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主要功能：应用商店</a:t>
            </a:r>
          </a:p>
        </p:txBody>
      </p:sp>
      <p:pic>
        <p:nvPicPr>
          <p:cNvPr id="442" name="已粘贴的影片.png" descr="已粘贴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75923" y="1299945"/>
            <a:ext cx="7861098" cy="465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43" name="文本框 83"/>
          <p:cNvSpPr txBox="1"/>
          <p:nvPr/>
        </p:nvSpPr>
        <p:spPr>
          <a:xfrm>
            <a:off x="555666" y="3151542"/>
            <a:ext cx="3065191" cy="825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接入Docker官方可信源认证的部署模版</a:t>
            </a:r>
          </a:p>
          <a:p>
            <a:pPr marL="2857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支持自定义上传部署模版（Dockerfile）</a:t>
            </a:r>
          </a:p>
        </p:txBody>
      </p:sp>
      <p:sp>
        <p:nvSpPr>
          <p:cNvPr id="444" name="文本框 83"/>
          <p:cNvSpPr txBox="1"/>
          <p:nvPr/>
        </p:nvSpPr>
        <p:spPr>
          <a:xfrm>
            <a:off x="581027" y="1436333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应用商店列表</a:t>
            </a:r>
          </a:p>
        </p:txBody>
      </p:sp>
      <p:sp>
        <p:nvSpPr>
          <p:cNvPr id="445" name="一键部署"/>
          <p:cNvSpPr txBox="1"/>
          <p:nvPr/>
        </p:nvSpPr>
        <p:spPr>
          <a:xfrm>
            <a:off x="555666" y="2741264"/>
            <a:ext cx="8153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一键部署</a:t>
            </a:r>
          </a:p>
        </p:txBody>
      </p:sp>
      <p:sp>
        <p:nvSpPr>
          <p:cNvPr id="446" name="系统源配置"/>
          <p:cNvSpPr txBox="1"/>
          <p:nvPr/>
        </p:nvSpPr>
        <p:spPr>
          <a:xfrm>
            <a:off x="588401" y="4212590"/>
            <a:ext cx="9931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系统源配置</a:t>
            </a:r>
          </a:p>
        </p:txBody>
      </p:sp>
      <p:sp>
        <p:nvSpPr>
          <p:cNvPr id="447" name="文本框 83"/>
          <p:cNvSpPr txBox="1"/>
          <p:nvPr/>
        </p:nvSpPr>
        <p:spPr>
          <a:xfrm>
            <a:off x="554979" y="1904359"/>
            <a:ext cx="3065192" cy="566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2857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lvl1pPr>
          </a:lstStyle>
          <a:p>
            <a:pPr/>
            <a:r>
              <a:t>支持主流应用，如装机必备、运维工具等</a:t>
            </a:r>
          </a:p>
        </p:txBody>
      </p:sp>
      <p:sp>
        <p:nvSpPr>
          <p:cNvPr id="448" name="文本框 83"/>
          <p:cNvSpPr txBox="1"/>
          <p:nvPr/>
        </p:nvSpPr>
        <p:spPr>
          <a:xfrm>
            <a:off x="588401" y="4680204"/>
            <a:ext cx="2999720" cy="5664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marL="2857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lvl1pPr>
          </a:lstStyle>
          <a:p>
            <a:pPr/>
            <a:r>
              <a:t>支持对操作系统的软件源进行集中配置管理</a:t>
            </a:r>
          </a:p>
        </p:txBody>
      </p:sp>
      <p:sp>
        <p:nvSpPr>
          <p:cNvPr id="449" name="示例图片，仅供参考"/>
          <p:cNvSpPr txBox="1"/>
          <p:nvPr/>
        </p:nvSpPr>
        <p:spPr>
          <a:xfrm>
            <a:off x="7140687" y="3056101"/>
            <a:ext cx="1717041" cy="358141"/>
          </a:xfrm>
          <a:prstGeom prst="rect">
            <a:avLst/>
          </a:prstGeom>
          <a:ln w="12700">
            <a:solidFill>
              <a:srgbClr val="FF2600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2600"/>
                </a:solidFill>
              </a:defRPr>
            </a:lvl1pPr>
          </a:lstStyle>
          <a:p>
            <a:pPr/>
            <a:r>
              <a:t>示例图片，仅供参考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已粘贴的影片.png" descr="已粘贴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71298" y="936932"/>
            <a:ext cx="7032769" cy="5295759"/>
          </a:xfrm>
          <a:prstGeom prst="rect">
            <a:avLst/>
          </a:prstGeom>
          <a:ln w="12700">
            <a:miter lim="400000"/>
          </a:ln>
        </p:spPr>
      </p:pic>
      <p:sp>
        <p:nvSpPr>
          <p:cNvPr id="452" name="文本框 2"/>
          <p:cNvSpPr txBox="1"/>
          <p:nvPr/>
        </p:nvSpPr>
        <p:spPr>
          <a:xfrm>
            <a:off x="939927" y="277952"/>
            <a:ext cx="3660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主要功能：自动化运维任务流程</a:t>
            </a:r>
          </a:p>
        </p:txBody>
      </p:sp>
      <p:sp>
        <p:nvSpPr>
          <p:cNvPr id="453" name="示例图片，仅供参考"/>
          <p:cNvSpPr txBox="1"/>
          <p:nvPr/>
        </p:nvSpPr>
        <p:spPr>
          <a:xfrm>
            <a:off x="5333872" y="1580237"/>
            <a:ext cx="1717041" cy="358141"/>
          </a:xfrm>
          <a:prstGeom prst="rect">
            <a:avLst/>
          </a:prstGeom>
          <a:ln w="12700">
            <a:solidFill>
              <a:srgbClr val="FF2600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2600"/>
                </a:solidFill>
              </a:defRPr>
            </a:lvl1pPr>
          </a:lstStyle>
          <a:p>
            <a:pPr/>
            <a:r>
              <a:t>示例图片，仅供参考</a:t>
            </a:r>
          </a:p>
        </p:txBody>
      </p:sp>
      <p:sp>
        <p:nvSpPr>
          <p:cNvPr id="454" name="文本框 83"/>
          <p:cNvSpPr txBox="1"/>
          <p:nvPr/>
        </p:nvSpPr>
        <p:spPr>
          <a:xfrm>
            <a:off x="581027" y="1099128"/>
            <a:ext cx="22377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多场景的任务计划流程编排</a:t>
            </a:r>
          </a:p>
        </p:txBody>
      </p:sp>
      <p:sp>
        <p:nvSpPr>
          <p:cNvPr id="455" name="文本框 83"/>
          <p:cNvSpPr txBox="1"/>
          <p:nvPr/>
        </p:nvSpPr>
        <p:spPr>
          <a:xfrm>
            <a:off x="554979" y="1567154"/>
            <a:ext cx="3065192" cy="1084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支持流程画布，用户自由拖拽组合任务计划流程</a:t>
            </a:r>
          </a:p>
          <a:p>
            <a:pPr marL="2857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预设12种*任务组件，满足单一场景/多场景的复杂业务需要</a:t>
            </a:r>
          </a:p>
        </p:txBody>
      </p:sp>
      <p:sp>
        <p:nvSpPr>
          <p:cNvPr id="456" name="文本框 83"/>
          <p:cNvSpPr txBox="1"/>
          <p:nvPr/>
        </p:nvSpPr>
        <p:spPr>
          <a:xfrm>
            <a:off x="581027" y="2988220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任务组件设计</a:t>
            </a:r>
          </a:p>
        </p:txBody>
      </p:sp>
      <p:sp>
        <p:nvSpPr>
          <p:cNvPr id="457" name="文本框 83"/>
          <p:cNvSpPr txBox="1"/>
          <p:nvPr/>
        </p:nvSpPr>
        <p:spPr>
          <a:xfrm>
            <a:off x="554979" y="3456246"/>
            <a:ext cx="4230265" cy="289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默认组件：任务开始、任务结束</a:t>
            </a:r>
          </a:p>
          <a:p>
            <a:pPr marL="2857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逻辑组件：逻辑判断（Y/N）、分支组件（SWITCH）</a:t>
            </a:r>
          </a:p>
          <a:p>
            <a:pPr marL="2857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应用组件：</a:t>
            </a:r>
          </a:p>
          <a:p>
            <a:pPr lvl="1" marL="7429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调用接口（API）</a:t>
            </a:r>
          </a:p>
          <a:p>
            <a:pPr lvl="1" marL="7429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脚本执行（BASH/SCRIPT）</a:t>
            </a:r>
          </a:p>
          <a:p>
            <a:pPr lvl="1" marL="7429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命令行（CMD/POWERSHELL/SHELL）</a:t>
            </a:r>
          </a:p>
          <a:p>
            <a:pPr lvl="1" marL="7429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输出文本（TEXT）</a:t>
            </a:r>
          </a:p>
          <a:p>
            <a:pPr lvl="1" marL="7429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发送邮件（EMAIL）</a:t>
            </a:r>
          </a:p>
          <a:p>
            <a:pPr lvl="1" marL="7429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发送短信（SMS）*</a:t>
            </a:r>
          </a:p>
          <a:p>
            <a:pPr lvl="1" marL="7429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应用控制（APP）</a:t>
            </a:r>
          </a:p>
          <a:p>
            <a:pPr lvl="1" marL="742950" indent="-285750">
              <a:lnSpc>
                <a:spcPct val="12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下载文件（download）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文本框 2"/>
          <p:cNvSpPr txBox="1"/>
          <p:nvPr/>
        </p:nvSpPr>
        <p:spPr>
          <a:xfrm>
            <a:off x="939927" y="277952"/>
            <a:ext cx="2390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主要功能：资产管理</a:t>
            </a:r>
          </a:p>
        </p:txBody>
      </p:sp>
      <p:sp>
        <p:nvSpPr>
          <p:cNvPr id="460" name="文本框 83"/>
          <p:cNvSpPr txBox="1"/>
          <p:nvPr/>
        </p:nvSpPr>
        <p:spPr>
          <a:xfrm>
            <a:off x="581027" y="1436333"/>
            <a:ext cx="9931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服务器列表</a:t>
            </a:r>
          </a:p>
        </p:txBody>
      </p:sp>
      <p:sp>
        <p:nvSpPr>
          <p:cNvPr id="461" name="文本框 83"/>
          <p:cNvSpPr txBox="1"/>
          <p:nvPr/>
        </p:nvSpPr>
        <p:spPr>
          <a:xfrm>
            <a:off x="554979" y="1904359"/>
            <a:ext cx="3391930" cy="160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支持对所有接入服务器进行纳管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提供在线命令行操作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提供服务器文件集中管理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提供系统服务发现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快捷访问：服务器启停、分布式操作执行等</a:t>
            </a:r>
          </a:p>
        </p:txBody>
      </p:sp>
      <p:sp>
        <p:nvSpPr>
          <p:cNvPr id="462" name="文本框 83"/>
          <p:cNvSpPr txBox="1"/>
          <p:nvPr/>
        </p:nvSpPr>
        <p:spPr>
          <a:xfrm>
            <a:off x="581027" y="3873736"/>
            <a:ext cx="11709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应用服务列表</a:t>
            </a:r>
          </a:p>
        </p:txBody>
      </p:sp>
      <p:sp>
        <p:nvSpPr>
          <p:cNvPr id="463" name="文本框 83"/>
          <p:cNvSpPr txBox="1"/>
          <p:nvPr/>
        </p:nvSpPr>
        <p:spPr>
          <a:xfrm>
            <a:off x="554979" y="4341762"/>
            <a:ext cx="3391930" cy="1278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支持对所有已部署应用服务进行纳管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提供应用服务操作：服务启停、状态查询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提供监控分析，展示详细的服务运行指标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提供应用运行日志查询</a:t>
            </a:r>
          </a:p>
        </p:txBody>
      </p:sp>
      <p:pic>
        <p:nvPicPr>
          <p:cNvPr id="464" name="已粘贴的影片.png" descr="已粘贴的影片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76188" y="843127"/>
            <a:ext cx="5473131" cy="3466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" name="已粘贴的影片.png" descr="已粘贴的影片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621069" y="3197277"/>
            <a:ext cx="5879843" cy="3099834"/>
          </a:xfrm>
          <a:prstGeom prst="rect">
            <a:avLst/>
          </a:prstGeom>
          <a:ln w="12700">
            <a:miter lim="400000"/>
          </a:ln>
        </p:spPr>
      </p:pic>
      <p:sp>
        <p:nvSpPr>
          <p:cNvPr id="466" name="示例图片，仅供参考"/>
          <p:cNvSpPr txBox="1"/>
          <p:nvPr/>
        </p:nvSpPr>
        <p:spPr>
          <a:xfrm>
            <a:off x="7552140" y="2886153"/>
            <a:ext cx="1717041" cy="358141"/>
          </a:xfrm>
          <a:prstGeom prst="rect">
            <a:avLst/>
          </a:prstGeom>
          <a:ln w="12700">
            <a:solidFill>
              <a:srgbClr val="FF2600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FF2600"/>
                </a:solidFill>
              </a:defRPr>
            </a:lvl1pPr>
          </a:lstStyle>
          <a:p>
            <a:pPr/>
            <a:r>
              <a:t>示例图片，仅供参考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文本框 2"/>
          <p:cNvSpPr txBox="1"/>
          <p:nvPr/>
        </p:nvSpPr>
        <p:spPr>
          <a:xfrm>
            <a:off x="939927" y="277952"/>
            <a:ext cx="2390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主要功能：安全管控</a:t>
            </a:r>
          </a:p>
        </p:txBody>
      </p:sp>
      <p:sp>
        <p:nvSpPr>
          <p:cNvPr id="469" name="文本框 83"/>
          <p:cNvSpPr txBox="1"/>
          <p:nvPr/>
        </p:nvSpPr>
        <p:spPr>
          <a:xfrm>
            <a:off x="581027" y="1436333"/>
            <a:ext cx="15265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4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基线运维安全管控</a:t>
            </a:r>
          </a:p>
        </p:txBody>
      </p:sp>
      <p:sp>
        <p:nvSpPr>
          <p:cNvPr id="470" name="文本框 83"/>
          <p:cNvSpPr txBox="1"/>
          <p:nvPr/>
        </p:nvSpPr>
        <p:spPr>
          <a:xfrm>
            <a:off x="554979" y="1904359"/>
            <a:ext cx="4681317" cy="257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网关服务：支持轻量级网关服务的配置管理（内置可选服务）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防火墙：支持对系统防火墙策略进行配置管理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杀毒软件（ClamAV）：支持ClamAV进行服务器杀毒扫描（内置可选服务）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审计日志：提供审计日志查询，支持对平台全局敏感操作进行记录、支持接入系统审计日志（audit service）</a:t>
            </a:r>
          </a:p>
          <a:p>
            <a:pPr marL="285750" indent="-285750">
              <a:lnSpc>
                <a:spcPct val="150000"/>
              </a:lnSpc>
              <a:buSzPct val="100000"/>
              <a:buChar char="●"/>
              <a:defRPr sz="1200">
                <a:solidFill>
                  <a:srgbClr val="000000"/>
                </a:solidFill>
              </a:defRPr>
            </a:pPr>
            <a:r>
              <a:t>密钥管理：支持服务器密钥等配置管理，可用于服务器管理、应用部署等环节</a:t>
            </a:r>
          </a:p>
        </p:txBody>
      </p:sp>
      <p:grpSp>
        <p:nvGrpSpPr>
          <p:cNvPr id="473" name="矩形 43"/>
          <p:cNvGrpSpPr/>
          <p:nvPr/>
        </p:nvGrpSpPr>
        <p:grpSpPr>
          <a:xfrm>
            <a:off x="10149618" y="2788692"/>
            <a:ext cx="682552" cy="2219050"/>
            <a:chOff x="0" y="0"/>
            <a:chExt cx="682550" cy="2219049"/>
          </a:xfrm>
        </p:grpSpPr>
        <p:sp>
          <p:nvSpPr>
            <p:cNvPr id="471" name="矩形"/>
            <p:cNvSpPr/>
            <p:nvPr/>
          </p:nvSpPr>
          <p:spPr>
            <a:xfrm>
              <a:off x="-1" y="-1"/>
              <a:ext cx="682552" cy="2219051"/>
            </a:xfrm>
            <a:prstGeom prst="rect">
              <a:avLst/>
            </a:prstGeom>
            <a:solidFill>
              <a:srgbClr val="6275C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2" name="Agent…"/>
            <p:cNvSpPr txBox="1"/>
            <p:nvPr/>
          </p:nvSpPr>
          <p:spPr>
            <a:xfrm>
              <a:off x="12813" y="456634"/>
              <a:ext cx="656924" cy="1305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  <a:r>
                <a:t>Agent</a:t>
              </a:r>
            </a:p>
            <a:p>
              <a:pPr algn="ctr">
                <a:defRPr sz="900">
                  <a:solidFill>
                    <a:srgbClr val="FFFFFF"/>
                  </a:solidFill>
                </a:defRPr>
              </a:pPr>
              <a:r>
                <a:t>Service</a:t>
              </a:r>
            </a:p>
          </p:txBody>
        </p:sp>
      </p:grpSp>
      <p:grpSp>
        <p:nvGrpSpPr>
          <p:cNvPr id="476" name="矩形 43"/>
          <p:cNvGrpSpPr/>
          <p:nvPr/>
        </p:nvGrpSpPr>
        <p:grpSpPr>
          <a:xfrm>
            <a:off x="6324936" y="1773819"/>
            <a:ext cx="1765321" cy="435966"/>
            <a:chOff x="0" y="0"/>
            <a:chExt cx="1765320" cy="435965"/>
          </a:xfrm>
        </p:grpSpPr>
        <p:sp>
          <p:nvSpPr>
            <p:cNvPr id="474" name="矩形"/>
            <p:cNvSpPr/>
            <p:nvPr/>
          </p:nvSpPr>
          <p:spPr>
            <a:xfrm>
              <a:off x="0" y="-1"/>
              <a:ext cx="1765321" cy="435967"/>
            </a:xfrm>
            <a:prstGeom prst="rect">
              <a:avLst/>
            </a:prstGeom>
            <a:solidFill>
              <a:srgbClr val="6275C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5" name="Nginx Master"/>
            <p:cNvSpPr txBox="1"/>
            <p:nvPr/>
          </p:nvSpPr>
          <p:spPr>
            <a:xfrm>
              <a:off x="33141" y="89712"/>
              <a:ext cx="1699038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Nginx Master</a:t>
              </a:r>
            </a:p>
          </p:txBody>
        </p:sp>
      </p:grpSp>
      <p:grpSp>
        <p:nvGrpSpPr>
          <p:cNvPr id="479" name="矩形 43"/>
          <p:cNvGrpSpPr/>
          <p:nvPr/>
        </p:nvGrpSpPr>
        <p:grpSpPr>
          <a:xfrm>
            <a:off x="8598647" y="1773819"/>
            <a:ext cx="1765321" cy="435966"/>
            <a:chOff x="0" y="0"/>
            <a:chExt cx="1765320" cy="435965"/>
          </a:xfrm>
        </p:grpSpPr>
        <p:sp>
          <p:nvSpPr>
            <p:cNvPr id="477" name="矩形"/>
            <p:cNvSpPr/>
            <p:nvPr/>
          </p:nvSpPr>
          <p:spPr>
            <a:xfrm>
              <a:off x="0" y="-1"/>
              <a:ext cx="1765321" cy="435967"/>
            </a:xfrm>
            <a:prstGeom prst="rect">
              <a:avLst/>
            </a:prstGeom>
            <a:solidFill>
              <a:srgbClr val="6275C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8" name="Nginx Backup"/>
            <p:cNvSpPr txBox="1"/>
            <p:nvPr/>
          </p:nvSpPr>
          <p:spPr>
            <a:xfrm>
              <a:off x="33141" y="89712"/>
              <a:ext cx="1699038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Nginx Backup</a:t>
              </a:r>
            </a:p>
          </p:txBody>
        </p:sp>
      </p:grpSp>
      <p:grpSp>
        <p:nvGrpSpPr>
          <p:cNvPr id="482" name="矩形 43"/>
          <p:cNvGrpSpPr/>
          <p:nvPr/>
        </p:nvGrpSpPr>
        <p:grpSpPr>
          <a:xfrm>
            <a:off x="6065542" y="2779747"/>
            <a:ext cx="1226761" cy="435966"/>
            <a:chOff x="0" y="0"/>
            <a:chExt cx="1226760" cy="435965"/>
          </a:xfrm>
        </p:grpSpPr>
        <p:sp>
          <p:nvSpPr>
            <p:cNvPr id="480" name="矩形"/>
            <p:cNvSpPr/>
            <p:nvPr/>
          </p:nvSpPr>
          <p:spPr>
            <a:xfrm>
              <a:off x="-1" y="-1"/>
              <a:ext cx="1226762" cy="435967"/>
            </a:xfrm>
            <a:prstGeom prst="rect">
              <a:avLst/>
            </a:prstGeom>
            <a:solidFill>
              <a:srgbClr val="6275C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1" name="API Server"/>
            <p:cNvSpPr txBox="1"/>
            <p:nvPr/>
          </p:nvSpPr>
          <p:spPr>
            <a:xfrm>
              <a:off x="23030" y="89712"/>
              <a:ext cx="1180701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API Server</a:t>
              </a:r>
            </a:p>
          </p:txBody>
        </p:sp>
      </p:grpSp>
      <p:grpSp>
        <p:nvGrpSpPr>
          <p:cNvPr id="485" name="矩形 43"/>
          <p:cNvGrpSpPr/>
          <p:nvPr/>
        </p:nvGrpSpPr>
        <p:grpSpPr>
          <a:xfrm>
            <a:off x="7382178" y="2779747"/>
            <a:ext cx="1226761" cy="435966"/>
            <a:chOff x="0" y="0"/>
            <a:chExt cx="1226760" cy="435965"/>
          </a:xfrm>
        </p:grpSpPr>
        <p:sp>
          <p:nvSpPr>
            <p:cNvPr id="483" name="矩形"/>
            <p:cNvSpPr/>
            <p:nvPr/>
          </p:nvSpPr>
          <p:spPr>
            <a:xfrm>
              <a:off x="-1" y="-1"/>
              <a:ext cx="1226762" cy="435967"/>
            </a:xfrm>
            <a:prstGeom prst="rect">
              <a:avLst/>
            </a:prstGeom>
            <a:solidFill>
              <a:srgbClr val="6275C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4" name="App Server1"/>
            <p:cNvSpPr txBox="1"/>
            <p:nvPr/>
          </p:nvSpPr>
          <p:spPr>
            <a:xfrm>
              <a:off x="23030" y="89712"/>
              <a:ext cx="1180701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App Server1</a:t>
              </a:r>
            </a:p>
          </p:txBody>
        </p:sp>
      </p:grpSp>
      <p:grpSp>
        <p:nvGrpSpPr>
          <p:cNvPr id="488" name="矩形 43"/>
          <p:cNvGrpSpPr/>
          <p:nvPr/>
        </p:nvGrpSpPr>
        <p:grpSpPr>
          <a:xfrm>
            <a:off x="8698813" y="2779747"/>
            <a:ext cx="1226761" cy="435966"/>
            <a:chOff x="0" y="0"/>
            <a:chExt cx="1226760" cy="435965"/>
          </a:xfrm>
        </p:grpSpPr>
        <p:sp>
          <p:nvSpPr>
            <p:cNvPr id="486" name="矩形"/>
            <p:cNvSpPr/>
            <p:nvPr/>
          </p:nvSpPr>
          <p:spPr>
            <a:xfrm>
              <a:off x="-1" y="-1"/>
              <a:ext cx="1226762" cy="435967"/>
            </a:xfrm>
            <a:prstGeom prst="rect">
              <a:avLst/>
            </a:prstGeom>
            <a:solidFill>
              <a:srgbClr val="6275C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7" name="App Server2"/>
            <p:cNvSpPr txBox="1"/>
            <p:nvPr/>
          </p:nvSpPr>
          <p:spPr>
            <a:xfrm>
              <a:off x="23030" y="89712"/>
              <a:ext cx="1180701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App Server2</a:t>
              </a:r>
            </a:p>
          </p:txBody>
        </p:sp>
      </p:grpSp>
      <p:grpSp>
        <p:nvGrpSpPr>
          <p:cNvPr id="491" name="矩形 43"/>
          <p:cNvGrpSpPr/>
          <p:nvPr/>
        </p:nvGrpSpPr>
        <p:grpSpPr>
          <a:xfrm>
            <a:off x="6065542" y="3443425"/>
            <a:ext cx="1226761" cy="435966"/>
            <a:chOff x="0" y="0"/>
            <a:chExt cx="1226760" cy="435965"/>
          </a:xfrm>
        </p:grpSpPr>
        <p:sp>
          <p:nvSpPr>
            <p:cNvPr id="489" name="矩形"/>
            <p:cNvSpPr/>
            <p:nvPr/>
          </p:nvSpPr>
          <p:spPr>
            <a:xfrm>
              <a:off x="-1" y="-1"/>
              <a:ext cx="1226762" cy="435967"/>
            </a:xfrm>
            <a:prstGeom prst="rect">
              <a:avLst/>
            </a:prstGeom>
            <a:solidFill>
              <a:srgbClr val="5353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0" name="Log4j"/>
            <p:cNvSpPr txBox="1"/>
            <p:nvPr/>
          </p:nvSpPr>
          <p:spPr>
            <a:xfrm>
              <a:off x="23030" y="89712"/>
              <a:ext cx="1180701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Log4j</a:t>
              </a:r>
            </a:p>
          </p:txBody>
        </p:sp>
      </p:grpSp>
      <p:grpSp>
        <p:nvGrpSpPr>
          <p:cNvPr id="494" name="矩形 43"/>
          <p:cNvGrpSpPr/>
          <p:nvPr/>
        </p:nvGrpSpPr>
        <p:grpSpPr>
          <a:xfrm>
            <a:off x="7382178" y="3443425"/>
            <a:ext cx="1226761" cy="435966"/>
            <a:chOff x="0" y="0"/>
            <a:chExt cx="1226760" cy="435965"/>
          </a:xfrm>
        </p:grpSpPr>
        <p:sp>
          <p:nvSpPr>
            <p:cNvPr id="492" name="矩形"/>
            <p:cNvSpPr/>
            <p:nvPr/>
          </p:nvSpPr>
          <p:spPr>
            <a:xfrm>
              <a:off x="-1" y="-1"/>
              <a:ext cx="1226762" cy="435967"/>
            </a:xfrm>
            <a:prstGeom prst="rect">
              <a:avLst/>
            </a:prstGeom>
            <a:solidFill>
              <a:srgbClr val="5353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3" name="Audit.log"/>
            <p:cNvSpPr txBox="1"/>
            <p:nvPr/>
          </p:nvSpPr>
          <p:spPr>
            <a:xfrm>
              <a:off x="23030" y="89712"/>
              <a:ext cx="1180701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Audit.log</a:t>
              </a:r>
            </a:p>
          </p:txBody>
        </p:sp>
      </p:grpSp>
      <p:grpSp>
        <p:nvGrpSpPr>
          <p:cNvPr id="497" name="矩形 43"/>
          <p:cNvGrpSpPr/>
          <p:nvPr/>
        </p:nvGrpSpPr>
        <p:grpSpPr>
          <a:xfrm>
            <a:off x="8698813" y="3443425"/>
            <a:ext cx="1226761" cy="435966"/>
            <a:chOff x="0" y="0"/>
            <a:chExt cx="1226760" cy="435965"/>
          </a:xfrm>
        </p:grpSpPr>
        <p:sp>
          <p:nvSpPr>
            <p:cNvPr id="495" name="矩形"/>
            <p:cNvSpPr/>
            <p:nvPr/>
          </p:nvSpPr>
          <p:spPr>
            <a:xfrm>
              <a:off x="-1" y="-1"/>
              <a:ext cx="1226762" cy="435967"/>
            </a:xfrm>
            <a:prstGeom prst="rect">
              <a:avLst/>
            </a:prstGeom>
            <a:solidFill>
              <a:srgbClr val="535353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6" name="Nohup.out"/>
            <p:cNvSpPr txBox="1"/>
            <p:nvPr/>
          </p:nvSpPr>
          <p:spPr>
            <a:xfrm>
              <a:off x="23030" y="89712"/>
              <a:ext cx="1180701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Nohup.out</a:t>
              </a:r>
            </a:p>
          </p:txBody>
        </p:sp>
      </p:grpSp>
      <p:grpSp>
        <p:nvGrpSpPr>
          <p:cNvPr id="500" name="矩形 43"/>
          <p:cNvGrpSpPr/>
          <p:nvPr/>
        </p:nvGrpSpPr>
        <p:grpSpPr>
          <a:xfrm>
            <a:off x="6065542" y="4008712"/>
            <a:ext cx="3860032" cy="435966"/>
            <a:chOff x="0" y="0"/>
            <a:chExt cx="3860031" cy="435965"/>
          </a:xfrm>
        </p:grpSpPr>
        <p:sp>
          <p:nvSpPr>
            <p:cNvPr id="498" name="矩形"/>
            <p:cNvSpPr/>
            <p:nvPr/>
          </p:nvSpPr>
          <p:spPr>
            <a:xfrm>
              <a:off x="-1" y="-1"/>
              <a:ext cx="3860033" cy="435967"/>
            </a:xfrm>
            <a:prstGeom prst="rect">
              <a:avLst/>
            </a:prstGeom>
            <a:solidFill>
              <a:srgbClr val="008F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9" name="DB Service"/>
            <p:cNvSpPr txBox="1"/>
            <p:nvPr/>
          </p:nvSpPr>
          <p:spPr>
            <a:xfrm>
              <a:off x="72466" y="89712"/>
              <a:ext cx="3715100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DB Service</a:t>
              </a:r>
            </a:p>
          </p:txBody>
        </p:sp>
      </p:grpSp>
      <p:grpSp>
        <p:nvGrpSpPr>
          <p:cNvPr id="503" name="矩形 43"/>
          <p:cNvGrpSpPr/>
          <p:nvPr/>
        </p:nvGrpSpPr>
        <p:grpSpPr>
          <a:xfrm>
            <a:off x="6065542" y="4573999"/>
            <a:ext cx="3860032" cy="435966"/>
            <a:chOff x="0" y="0"/>
            <a:chExt cx="3860031" cy="435965"/>
          </a:xfrm>
        </p:grpSpPr>
        <p:sp>
          <p:nvSpPr>
            <p:cNvPr id="501" name="矩形"/>
            <p:cNvSpPr/>
            <p:nvPr/>
          </p:nvSpPr>
          <p:spPr>
            <a:xfrm>
              <a:off x="-1" y="-1"/>
              <a:ext cx="3860033" cy="435967"/>
            </a:xfrm>
            <a:prstGeom prst="rect">
              <a:avLst/>
            </a:prstGeom>
            <a:solidFill>
              <a:srgbClr val="4F8F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9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2" name="Metadata Service"/>
            <p:cNvSpPr txBox="1"/>
            <p:nvPr/>
          </p:nvSpPr>
          <p:spPr>
            <a:xfrm>
              <a:off x="72466" y="89712"/>
              <a:ext cx="3715100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>
                <a:defRPr sz="900">
                  <a:solidFill>
                    <a:srgbClr val="FFFFFF"/>
                  </a:solidFill>
                </a:defRPr>
              </a:lvl1pPr>
            </a:lstStyle>
            <a:p>
              <a:pPr/>
              <a:r>
                <a:t>Metadata Service</a:t>
              </a:r>
            </a:p>
          </p:txBody>
        </p:sp>
      </p:grpSp>
      <p:sp>
        <p:nvSpPr>
          <p:cNvPr id="504" name="矩形 81"/>
          <p:cNvSpPr/>
          <p:nvPr/>
        </p:nvSpPr>
        <p:spPr>
          <a:xfrm>
            <a:off x="5902225" y="2650910"/>
            <a:ext cx="5097824" cy="2627101"/>
          </a:xfrm>
          <a:prstGeom prst="rect">
            <a:avLst/>
          </a:prstGeom>
          <a:ln w="12700">
            <a:solidFill>
              <a:srgbClr val="475DBD"/>
            </a:solidFill>
            <a:prstDash val="sysDot"/>
            <a:miter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05" name="矩形 81"/>
          <p:cNvSpPr/>
          <p:nvPr/>
        </p:nvSpPr>
        <p:spPr>
          <a:xfrm>
            <a:off x="5902225" y="1579989"/>
            <a:ext cx="5097824" cy="839739"/>
          </a:xfrm>
          <a:prstGeom prst="rect">
            <a:avLst/>
          </a:prstGeom>
          <a:ln w="12700">
            <a:solidFill>
              <a:srgbClr val="475DBD"/>
            </a:solidFill>
            <a:prstDash val="sysDot"/>
            <a:miter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06" name="线条"/>
          <p:cNvSpPr/>
          <p:nvPr/>
        </p:nvSpPr>
        <p:spPr>
          <a:xfrm>
            <a:off x="9780611" y="4186471"/>
            <a:ext cx="446520" cy="1"/>
          </a:xfrm>
          <a:prstGeom prst="line">
            <a:avLst/>
          </a:prstGeom>
          <a:ln w="12700">
            <a:solidFill>
              <a:schemeClr val="accent1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507" name="线条"/>
          <p:cNvSpPr/>
          <p:nvPr/>
        </p:nvSpPr>
        <p:spPr>
          <a:xfrm>
            <a:off x="9780611" y="4791981"/>
            <a:ext cx="446520" cy="1"/>
          </a:xfrm>
          <a:prstGeom prst="line">
            <a:avLst/>
          </a:prstGeom>
          <a:ln w="12700">
            <a:solidFill>
              <a:schemeClr val="accent1"/>
            </a:solidFill>
            <a:miter/>
            <a:headEnd type="triangle"/>
            <a:tailEnd type="triangle"/>
          </a:ln>
        </p:spPr>
        <p:txBody>
          <a:bodyPr lIns="45719" rIns="45719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508" name="线条"/>
          <p:cNvSpPr/>
          <p:nvPr/>
        </p:nvSpPr>
        <p:spPr>
          <a:xfrm>
            <a:off x="9780611" y="3661407"/>
            <a:ext cx="446520" cy="1"/>
          </a:xfrm>
          <a:prstGeom prst="line">
            <a:avLst/>
          </a:prstGeom>
          <a:ln w="12700">
            <a:solidFill>
              <a:schemeClr val="accent1"/>
            </a:solidFill>
            <a:miter/>
            <a:headEnd type="triangle" len="sm"/>
            <a:tailEnd type="triangle"/>
          </a:ln>
        </p:spPr>
        <p:txBody>
          <a:bodyPr lIns="45719" rIns="45719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509" name="线条"/>
          <p:cNvSpPr/>
          <p:nvPr/>
        </p:nvSpPr>
        <p:spPr>
          <a:xfrm flipH="1">
            <a:off x="6807806" y="2218356"/>
            <a:ext cx="346828" cy="530461"/>
          </a:xfrm>
          <a:prstGeom prst="line">
            <a:avLst/>
          </a:prstGeom>
          <a:ln w="12700">
            <a:solidFill>
              <a:schemeClr val="accent1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9" rIns="45719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510" name="线条"/>
          <p:cNvSpPr/>
          <p:nvPr/>
        </p:nvSpPr>
        <p:spPr>
          <a:xfrm>
            <a:off x="7171873" y="2220213"/>
            <a:ext cx="807491" cy="528604"/>
          </a:xfrm>
          <a:prstGeom prst="line">
            <a:avLst/>
          </a:prstGeom>
          <a:ln w="12700">
            <a:solidFill>
              <a:schemeClr val="accent1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9" rIns="45719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511" name="线条"/>
          <p:cNvSpPr/>
          <p:nvPr/>
        </p:nvSpPr>
        <p:spPr>
          <a:xfrm>
            <a:off x="7179200" y="2237069"/>
            <a:ext cx="2221133" cy="572718"/>
          </a:xfrm>
          <a:prstGeom prst="line">
            <a:avLst/>
          </a:prstGeom>
          <a:ln w="12700">
            <a:solidFill>
              <a:schemeClr val="accent1"/>
            </a:solidFill>
            <a:custDash>
              <a:ds d="200000" sp="200000"/>
            </a:custDash>
            <a:miter lim="400000"/>
            <a:tailEnd type="triangle"/>
          </a:ln>
        </p:spPr>
        <p:txBody>
          <a:bodyPr lIns="45719" rIns="45719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512" name="文本框 83"/>
          <p:cNvSpPr txBox="1"/>
          <p:nvPr/>
        </p:nvSpPr>
        <p:spPr>
          <a:xfrm>
            <a:off x="7859317" y="5359391"/>
            <a:ext cx="11836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lnSpc>
                <a:spcPct val="120000"/>
              </a:lnSpc>
              <a:defRPr sz="1000">
                <a:solidFill>
                  <a:srgbClr val="000000"/>
                </a:solidFill>
              </a:defRPr>
            </a:lvl1pPr>
          </a:lstStyle>
          <a:p>
            <a:pPr/>
            <a:r>
              <a:t>应用架构·负载均衡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组合 8"/>
          <p:cNvGrpSpPr/>
          <p:nvPr/>
        </p:nvGrpSpPr>
        <p:grpSpPr>
          <a:xfrm>
            <a:off x="-4" y="-1"/>
            <a:ext cx="12192001" cy="6858001"/>
            <a:chOff x="-2" y="0"/>
            <a:chExt cx="12192000" cy="6858000"/>
          </a:xfrm>
        </p:grpSpPr>
        <p:pic>
          <p:nvPicPr>
            <p:cNvPr id="514" name="图片 9" descr="图片 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12192001" cy="6858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5" name="矩形 10"/>
            <p:cNvSpPr/>
            <p:nvPr/>
          </p:nvSpPr>
          <p:spPr>
            <a:xfrm>
              <a:off x="-3" y="0"/>
              <a:ext cx="12192001" cy="6858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17" name="矩形 40"/>
          <p:cNvSpPr/>
          <p:nvPr/>
        </p:nvSpPr>
        <p:spPr>
          <a:xfrm>
            <a:off x="0" y="2631357"/>
            <a:ext cx="12192000" cy="312665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18" name="文本框 43"/>
          <p:cNvSpPr txBox="1"/>
          <p:nvPr/>
        </p:nvSpPr>
        <p:spPr>
          <a:xfrm>
            <a:off x="8997210" y="3569713"/>
            <a:ext cx="2339341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44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开发计划</a:t>
            </a:r>
          </a:p>
        </p:txBody>
      </p:sp>
      <p:sp>
        <p:nvSpPr>
          <p:cNvPr id="519" name="文本框 46"/>
          <p:cNvSpPr txBox="1"/>
          <p:nvPr/>
        </p:nvSpPr>
        <p:spPr>
          <a:xfrm>
            <a:off x="5862595" y="4024243"/>
            <a:ext cx="2014780" cy="726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solidFill>
                  <a:srgbClr val="FFFFFF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PART 03</a:t>
            </a:r>
          </a:p>
        </p:txBody>
      </p:sp>
      <p:sp>
        <p:nvSpPr>
          <p:cNvPr id="520" name="直接连接符 3"/>
          <p:cNvSpPr/>
          <p:nvPr/>
        </p:nvSpPr>
        <p:spPr>
          <a:xfrm>
            <a:off x="8381587" y="3627520"/>
            <a:ext cx="1" cy="1439779"/>
          </a:xfrm>
          <a:prstGeom prst="line">
            <a:avLst/>
          </a:prstGeom>
          <a:ln w="6350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521" name="文本框 4"/>
          <p:cNvSpPr txBox="1"/>
          <p:nvPr/>
        </p:nvSpPr>
        <p:spPr>
          <a:xfrm>
            <a:off x="8997210" y="4519814"/>
            <a:ext cx="258089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Development planning</a:t>
            </a:r>
          </a:p>
        </p:txBody>
      </p:sp>
      <p:grpSp>
        <p:nvGrpSpPr>
          <p:cNvPr id="524" name="图片 12"/>
          <p:cNvGrpSpPr/>
          <p:nvPr/>
        </p:nvGrpSpPr>
        <p:grpSpPr>
          <a:xfrm>
            <a:off x="463657" y="887068"/>
            <a:ext cx="7286354" cy="2682646"/>
            <a:chOff x="0" y="0"/>
            <a:chExt cx="7286352" cy="2682644"/>
          </a:xfrm>
        </p:grpSpPr>
        <p:sp>
          <p:nvSpPr>
            <p:cNvPr id="522" name="形状"/>
            <p:cNvSpPr/>
            <p:nvPr/>
          </p:nvSpPr>
          <p:spPr>
            <a:xfrm>
              <a:off x="0" y="-1"/>
              <a:ext cx="7286353" cy="26826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306" y="0"/>
                    <a:pt x="683" y="0"/>
                  </a:cubicBezTo>
                  <a:lnTo>
                    <a:pt x="20917" y="0"/>
                  </a:lnTo>
                  <a:lnTo>
                    <a:pt x="20917" y="0"/>
                  </a:lnTo>
                  <a:cubicBezTo>
                    <a:pt x="21294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294" y="21600"/>
                    <a:pt x="20917" y="21600"/>
                  </a:cubicBezTo>
                  <a:lnTo>
                    <a:pt x="683" y="21600"/>
                  </a:lnTo>
                  <a:lnTo>
                    <a:pt x="683" y="21600"/>
                  </a:lnTo>
                  <a:cubicBezTo>
                    <a:pt x="306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solidFill>
                    <a:srgbClr val="000000"/>
                  </a:solidFill>
                </a:defRPr>
              </a:pPr>
            </a:p>
          </p:txBody>
        </p:sp>
        <p:pic>
          <p:nvPicPr>
            <p:cNvPr id="523" name="生成数字科技背景图 (1).png" descr="生成数字科技背景图 (1)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6764" r="1" b="6770"/>
            <a:stretch>
              <a:fillRect/>
            </a:stretch>
          </p:blipFill>
          <p:spPr>
            <a:xfrm>
              <a:off x="0" y="0"/>
              <a:ext cx="7286229" cy="26824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84" y="0"/>
                  </a:moveTo>
                  <a:cubicBezTo>
                    <a:pt x="306" y="0"/>
                    <a:pt x="0" y="831"/>
                    <a:pt x="0" y="1857"/>
                  </a:cubicBezTo>
                  <a:lnTo>
                    <a:pt x="0" y="19746"/>
                  </a:lnTo>
                  <a:cubicBezTo>
                    <a:pt x="0" y="20772"/>
                    <a:pt x="306" y="21600"/>
                    <a:pt x="684" y="21600"/>
                  </a:cubicBezTo>
                  <a:lnTo>
                    <a:pt x="20916" y="21600"/>
                  </a:lnTo>
                  <a:cubicBezTo>
                    <a:pt x="21294" y="21600"/>
                    <a:pt x="21600" y="20772"/>
                    <a:pt x="21600" y="19746"/>
                  </a:cubicBezTo>
                  <a:lnTo>
                    <a:pt x="21600" y="1857"/>
                  </a:lnTo>
                  <a:cubicBezTo>
                    <a:pt x="21600" y="831"/>
                    <a:pt x="21294" y="0"/>
                    <a:pt x="20916" y="0"/>
                  </a:cubicBezTo>
                  <a:lnTo>
                    <a:pt x="684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75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Class="entr" nodeType="after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Class="entr" nodeType="afterEffect" presetSubtype="1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up)" transition="in">
                                      <p:cBhvr>
                                        <p:cTn id="16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Class="entr" nodeType="afterEffect" presetSubtype="2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Class="entr" nodeType="after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18" grpId="4"/>
      <p:bldP build="whole" bldLvl="1" animBg="1" rev="0" advAuto="0" spid="517" grpId="1"/>
      <p:bldP build="whole" bldLvl="1" animBg="1" rev="0" advAuto="0" spid="520" grpId="3"/>
      <p:bldP build="whole" bldLvl="1" animBg="1" rev="0" advAuto="0" spid="519" grpId="2"/>
      <p:bldP build="whole" bldLvl="1" animBg="1" rev="0" advAuto="0" spid="521" grpId="5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文本框 2"/>
          <p:cNvSpPr txBox="1"/>
          <p:nvPr/>
        </p:nvSpPr>
        <p:spPr>
          <a:xfrm>
            <a:off x="939927" y="277952"/>
            <a:ext cx="1120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开发计划</a:t>
            </a:r>
          </a:p>
        </p:txBody>
      </p:sp>
      <p:sp>
        <p:nvSpPr>
          <p:cNvPr id="527" name="文本框 88"/>
          <p:cNvSpPr txBox="1"/>
          <p:nvPr/>
        </p:nvSpPr>
        <p:spPr>
          <a:xfrm>
            <a:off x="1529969" y="3806921"/>
            <a:ext cx="2469090" cy="1513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71450" indent="-171450" algn="just">
              <a:lnSpc>
                <a:spcPct val="150000"/>
              </a:lnSpc>
              <a:buSzPct val="100000"/>
              <a:buChar char="●"/>
              <a:defRPr>
                <a:solidFill>
                  <a:srgbClr val="262626"/>
                </a:solidFill>
              </a:defRPr>
            </a:pPr>
            <a:r>
              <a:t>总体方案详细设计（功能</a:t>
            </a:r>
            <a:r>
              <a:t>/</a:t>
            </a:r>
            <a:r>
              <a:t>技术架构）</a:t>
            </a:r>
          </a:p>
          <a:p>
            <a:pPr marL="171450" indent="-171450" algn="just">
              <a:lnSpc>
                <a:spcPct val="150000"/>
              </a:lnSpc>
              <a:buSzPct val="100000"/>
              <a:buChar char="●"/>
              <a:defRPr>
                <a:solidFill>
                  <a:srgbClr val="262626"/>
                </a:solidFill>
              </a:defRPr>
            </a:pPr>
            <a:r>
              <a:t>服务器资源确认</a:t>
            </a:r>
          </a:p>
          <a:p>
            <a:pPr marL="171450" indent="-171450" algn="just">
              <a:lnSpc>
                <a:spcPct val="150000"/>
              </a:lnSpc>
              <a:buSzPct val="100000"/>
              <a:buChar char="●"/>
              <a:defRPr>
                <a:solidFill>
                  <a:srgbClr val="262626"/>
                </a:solidFill>
              </a:defRPr>
            </a:pPr>
            <a:r>
              <a:t>总体方案确认</a:t>
            </a:r>
          </a:p>
        </p:txBody>
      </p:sp>
      <p:sp>
        <p:nvSpPr>
          <p:cNvPr id="528" name="文本框 89"/>
          <p:cNvSpPr txBox="1"/>
          <p:nvPr/>
        </p:nvSpPr>
        <p:spPr>
          <a:xfrm>
            <a:off x="1529969" y="3423034"/>
            <a:ext cx="1926715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62626"/>
                </a:solidFill>
              </a:defRPr>
            </a:lvl1pPr>
          </a:lstStyle>
          <a:p>
            <a:pPr/>
            <a:r>
              <a:t>项目启动</a:t>
            </a:r>
          </a:p>
        </p:txBody>
      </p:sp>
      <p:grpSp>
        <p:nvGrpSpPr>
          <p:cNvPr id="535" name="组合 90"/>
          <p:cNvGrpSpPr/>
          <p:nvPr/>
        </p:nvGrpSpPr>
        <p:grpSpPr>
          <a:xfrm>
            <a:off x="1588664" y="2644482"/>
            <a:ext cx="10603336" cy="514300"/>
            <a:chOff x="0" y="0"/>
            <a:chExt cx="10603335" cy="514298"/>
          </a:xfrm>
        </p:grpSpPr>
        <p:sp>
          <p:nvSpPr>
            <p:cNvPr id="529" name="矩形 91"/>
            <p:cNvSpPr/>
            <p:nvPr/>
          </p:nvSpPr>
          <p:spPr>
            <a:xfrm>
              <a:off x="-1" y="0"/>
              <a:ext cx="2897252" cy="514299"/>
            </a:xfrm>
            <a:prstGeom prst="rect">
              <a:avLst/>
            </a:prstGeom>
            <a:solidFill>
              <a:srgbClr val="7888C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30" name="矩形 92"/>
            <p:cNvSpPr/>
            <p:nvPr/>
          </p:nvSpPr>
          <p:spPr>
            <a:xfrm>
              <a:off x="2851601" y="0"/>
              <a:ext cx="2897252" cy="514299"/>
            </a:xfrm>
            <a:prstGeom prst="rect">
              <a:avLst/>
            </a:prstGeom>
            <a:solidFill>
              <a:srgbClr val="30408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31" name="矩形 93"/>
            <p:cNvSpPr/>
            <p:nvPr/>
          </p:nvSpPr>
          <p:spPr>
            <a:xfrm>
              <a:off x="5710722" y="0"/>
              <a:ext cx="4892613" cy="514299"/>
            </a:xfrm>
            <a:prstGeom prst="rect">
              <a:avLst/>
            </a:prstGeom>
            <a:solidFill>
              <a:srgbClr val="AACBFE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32" name="文本框 94"/>
            <p:cNvSpPr txBox="1"/>
            <p:nvPr/>
          </p:nvSpPr>
          <p:spPr>
            <a:xfrm>
              <a:off x="96972" y="18889"/>
              <a:ext cx="2148665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2025·6</a:t>
              </a:r>
            </a:p>
          </p:txBody>
        </p:sp>
        <p:sp>
          <p:nvSpPr>
            <p:cNvPr id="533" name="文本框 95"/>
            <p:cNvSpPr txBox="1"/>
            <p:nvPr/>
          </p:nvSpPr>
          <p:spPr>
            <a:xfrm>
              <a:off x="2910443" y="18889"/>
              <a:ext cx="2407907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>
                  <a:solidFill>
                    <a:srgbClr val="FFFFFF"/>
                  </a:solidFill>
                </a:defRPr>
              </a:pPr>
              <a:r>
                <a:t>2025·7</a:t>
              </a:r>
              <a:r>
                <a:t>～</a:t>
              </a:r>
              <a:r>
                <a:t>2025·9</a:t>
              </a:r>
            </a:p>
          </p:txBody>
        </p:sp>
        <p:sp>
          <p:nvSpPr>
            <p:cNvPr id="534" name="文本框 96"/>
            <p:cNvSpPr txBox="1"/>
            <p:nvPr/>
          </p:nvSpPr>
          <p:spPr>
            <a:xfrm>
              <a:off x="5756443" y="18889"/>
              <a:ext cx="1926715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>
                  <a:solidFill>
                    <a:srgbClr val="FFFFFF"/>
                  </a:solidFill>
                </a:defRPr>
              </a:lvl1pPr>
            </a:lstStyle>
            <a:p>
              <a:pPr/>
              <a:r>
                <a:t>2025·10/30</a:t>
              </a:r>
            </a:p>
          </p:txBody>
        </p:sp>
      </p:grpSp>
      <p:sp>
        <p:nvSpPr>
          <p:cNvPr id="536" name="文本框 97"/>
          <p:cNvSpPr txBox="1"/>
          <p:nvPr/>
        </p:nvSpPr>
        <p:spPr>
          <a:xfrm>
            <a:off x="4485987" y="3806921"/>
            <a:ext cx="2469089" cy="904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71450" indent="-171450" algn="just">
              <a:lnSpc>
                <a:spcPct val="150000"/>
              </a:lnSpc>
              <a:buSzPct val="100000"/>
              <a:buChar char="●"/>
              <a:defRPr>
                <a:solidFill>
                  <a:srgbClr val="262626"/>
                </a:solidFill>
              </a:defRPr>
            </a:pPr>
            <a:r>
              <a:t>平台功能开发（</a:t>
            </a:r>
            <a:r>
              <a:t>3</a:t>
            </a:r>
            <a:r>
              <a:t>月）</a:t>
            </a:r>
          </a:p>
          <a:p>
            <a:pPr marL="171450" indent="-171450" algn="just">
              <a:lnSpc>
                <a:spcPct val="150000"/>
              </a:lnSpc>
              <a:buSzPct val="100000"/>
              <a:buChar char="p"/>
              <a:defRPr>
                <a:solidFill>
                  <a:srgbClr val="262626"/>
                </a:solidFill>
              </a:defRPr>
            </a:pPr>
            <a:r>
              <a:t>功能开发（</a:t>
            </a:r>
            <a:r>
              <a:t>3</a:t>
            </a:r>
            <a:r>
              <a:t>月）</a:t>
            </a:r>
          </a:p>
          <a:p>
            <a:pPr marL="171450" indent="-171450" algn="just">
              <a:lnSpc>
                <a:spcPct val="150000"/>
              </a:lnSpc>
              <a:buSzPct val="100000"/>
              <a:buChar char="p"/>
              <a:defRPr>
                <a:solidFill>
                  <a:srgbClr val="262626"/>
                </a:solidFill>
              </a:defRPr>
            </a:pPr>
            <a:r>
              <a:t>功能测试（</a:t>
            </a:r>
            <a:r>
              <a:t>1</a:t>
            </a:r>
            <a:r>
              <a:t>月）</a:t>
            </a:r>
          </a:p>
        </p:txBody>
      </p:sp>
      <p:sp>
        <p:nvSpPr>
          <p:cNvPr id="537" name="文本框 98"/>
          <p:cNvSpPr txBox="1"/>
          <p:nvPr/>
        </p:nvSpPr>
        <p:spPr>
          <a:xfrm>
            <a:off x="4485987" y="3423034"/>
            <a:ext cx="1926715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62626"/>
                </a:solidFill>
              </a:defRPr>
            </a:lvl1pPr>
          </a:lstStyle>
          <a:p>
            <a:pPr/>
            <a:r>
              <a:t>项目实施</a:t>
            </a:r>
          </a:p>
        </p:txBody>
      </p:sp>
      <p:sp>
        <p:nvSpPr>
          <p:cNvPr id="538" name="文本框 99"/>
          <p:cNvSpPr txBox="1"/>
          <p:nvPr/>
        </p:nvSpPr>
        <p:spPr>
          <a:xfrm>
            <a:off x="7442004" y="3806921"/>
            <a:ext cx="1952104" cy="1510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171450" indent="-171450" algn="just">
              <a:lnSpc>
                <a:spcPct val="150000"/>
              </a:lnSpc>
              <a:buSzPct val="100000"/>
              <a:buChar char="●"/>
              <a:defRPr>
                <a:solidFill>
                  <a:srgbClr val="262626"/>
                </a:solidFill>
              </a:defRPr>
            </a:pPr>
            <a:r>
              <a:t>产品上线</a:t>
            </a:r>
          </a:p>
          <a:p>
            <a:pPr marL="171450" indent="-171450" algn="just">
              <a:lnSpc>
                <a:spcPct val="150000"/>
              </a:lnSpc>
              <a:buSzPct val="100000"/>
              <a:buChar char="●"/>
              <a:defRPr>
                <a:solidFill>
                  <a:srgbClr val="262626"/>
                </a:solidFill>
              </a:defRPr>
            </a:pPr>
            <a:r>
              <a:t>开源社区</a:t>
            </a:r>
            <a:r>
              <a:t>运营</a:t>
            </a:r>
          </a:p>
          <a:p>
            <a:pPr marL="171450" indent="-171450" algn="just">
              <a:lnSpc>
                <a:spcPct val="150000"/>
              </a:lnSpc>
              <a:buSzPct val="100000"/>
              <a:buChar char="●"/>
              <a:defRPr>
                <a:solidFill>
                  <a:srgbClr val="262626"/>
                </a:solidFill>
              </a:defRPr>
            </a:pPr>
            <a:r>
              <a:t>市场渠道推广</a:t>
            </a:r>
          </a:p>
          <a:p>
            <a:pPr algn="just">
              <a:lnSpc>
                <a:spcPct val="150000"/>
              </a:lnSpc>
              <a:defRPr>
                <a:solidFill>
                  <a:srgbClr val="262626"/>
                </a:solidFill>
              </a:defRPr>
            </a:pPr>
            <a:r>
              <a:t>…</a:t>
            </a:r>
          </a:p>
        </p:txBody>
      </p:sp>
      <p:sp>
        <p:nvSpPr>
          <p:cNvPr id="539" name="文本框 100"/>
          <p:cNvSpPr txBox="1"/>
          <p:nvPr/>
        </p:nvSpPr>
        <p:spPr>
          <a:xfrm>
            <a:off x="7442004" y="3423034"/>
            <a:ext cx="1926715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262626"/>
                </a:solidFill>
              </a:defRPr>
            </a:lvl1pPr>
          </a:lstStyle>
          <a:p>
            <a:pPr/>
            <a:r>
              <a:t>项目上线</a:t>
            </a:r>
          </a:p>
        </p:txBody>
      </p:sp>
      <p:sp>
        <p:nvSpPr>
          <p:cNvPr id="540" name="文本框 102"/>
          <p:cNvSpPr txBox="1"/>
          <p:nvPr/>
        </p:nvSpPr>
        <p:spPr>
          <a:xfrm>
            <a:off x="939927" y="1512017"/>
            <a:ext cx="401574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just">
              <a:defRPr sz="1400">
                <a:solidFill>
                  <a:srgbClr val="262626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整体项目的实施采用敏捷、小步迭代的开发方式。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Class="entr" nodeType="after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Class="entr" nodeType="afterEffect" presetSubtype="4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Class="entr" nodeType="afterEffect" presetSubtype="4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Class="entr" nodeType="afterEffect" presetSubtype="4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6000"/>
                            </p:stCondLst>
                            <p:childTnLst>
                              <p:par>
                                <p:cTn id="35" presetClass="entr" nodeType="afterEffect" presetSubtype="2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37" grpId="3"/>
      <p:bldP build="whole" bldLvl="1" animBg="1" rev="0" advAuto="0" spid="536" grpId="4"/>
      <p:bldP build="whole" bldLvl="1" animBg="1" rev="0" advAuto="0" spid="535" grpId="7"/>
      <p:bldP build="whole" bldLvl="1" animBg="1" rev="0" advAuto="0" spid="539" grpId="5"/>
      <p:bldP build="whole" bldLvl="1" animBg="1" rev="0" advAuto="0" spid="528" grpId="1"/>
      <p:bldP build="whole" bldLvl="1" animBg="1" rev="0" advAuto="0" spid="527" grpId="2"/>
      <p:bldP build="whole" bldLvl="1" animBg="1" rev="0" advAuto="0" spid="538" grpId="6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文本框 2"/>
          <p:cNvSpPr txBox="1"/>
          <p:nvPr/>
        </p:nvSpPr>
        <p:spPr>
          <a:xfrm>
            <a:off x="939927" y="277952"/>
            <a:ext cx="1628141" cy="447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开发团队架构</a:t>
            </a:r>
          </a:p>
        </p:txBody>
      </p:sp>
      <p:grpSp>
        <p:nvGrpSpPr>
          <p:cNvPr id="553" name="组合 40"/>
          <p:cNvGrpSpPr/>
          <p:nvPr/>
        </p:nvGrpSpPr>
        <p:grpSpPr>
          <a:xfrm>
            <a:off x="5109766" y="4049946"/>
            <a:ext cx="3050599" cy="985837"/>
            <a:chOff x="0" y="0"/>
            <a:chExt cx="3050597" cy="985836"/>
          </a:xfrm>
        </p:grpSpPr>
        <p:sp>
          <p:nvSpPr>
            <p:cNvPr id="543" name="矩形: 圆角 229"/>
            <p:cNvSpPr/>
            <p:nvPr/>
          </p:nvSpPr>
          <p:spPr>
            <a:xfrm>
              <a:off x="0" y="0"/>
              <a:ext cx="3050598" cy="985837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550" name="Google Shape;1014;p32"/>
            <p:cNvGrpSpPr/>
            <p:nvPr/>
          </p:nvGrpSpPr>
          <p:grpSpPr>
            <a:xfrm>
              <a:off x="2546776" y="179045"/>
              <a:ext cx="281549" cy="282297"/>
              <a:chOff x="0" y="24"/>
              <a:chExt cx="281547" cy="282295"/>
            </a:xfrm>
          </p:grpSpPr>
          <p:sp>
            <p:nvSpPr>
              <p:cNvPr id="544" name="Google Shape;1015;p32"/>
              <p:cNvSpPr/>
              <p:nvPr/>
            </p:nvSpPr>
            <p:spPr>
              <a:xfrm>
                <a:off x="0" y="24"/>
                <a:ext cx="281548" cy="282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9673" y="1222"/>
                    </a:moveTo>
                    <a:cubicBezTo>
                      <a:pt x="20023" y="1222"/>
                      <a:pt x="20316" y="1514"/>
                      <a:pt x="20316" y="1863"/>
                    </a:cubicBezTo>
                    <a:lnTo>
                      <a:pt x="20316" y="5006"/>
                    </a:lnTo>
                    <a:lnTo>
                      <a:pt x="1227" y="5006"/>
                    </a:lnTo>
                    <a:lnTo>
                      <a:pt x="1227" y="1863"/>
                    </a:lnTo>
                    <a:cubicBezTo>
                      <a:pt x="1227" y="1514"/>
                      <a:pt x="1518" y="1222"/>
                      <a:pt x="1868" y="1222"/>
                    </a:cubicBezTo>
                    <a:close/>
                    <a:moveTo>
                      <a:pt x="20258" y="6230"/>
                    </a:moveTo>
                    <a:lnTo>
                      <a:pt x="20258" y="17059"/>
                    </a:lnTo>
                    <a:cubicBezTo>
                      <a:pt x="20316" y="17525"/>
                      <a:pt x="20023" y="17758"/>
                      <a:pt x="19673" y="17758"/>
                    </a:cubicBezTo>
                    <a:lnTo>
                      <a:pt x="16521" y="17758"/>
                    </a:lnTo>
                    <a:lnTo>
                      <a:pt x="15880" y="17059"/>
                    </a:lnTo>
                    <a:cubicBezTo>
                      <a:pt x="15937" y="16943"/>
                      <a:pt x="16054" y="16710"/>
                      <a:pt x="16113" y="16477"/>
                    </a:cubicBezTo>
                    <a:lnTo>
                      <a:pt x="17047" y="16477"/>
                    </a:lnTo>
                    <a:cubicBezTo>
                      <a:pt x="17397" y="16477"/>
                      <a:pt x="17688" y="16185"/>
                      <a:pt x="17688" y="15836"/>
                    </a:cubicBezTo>
                    <a:lnTo>
                      <a:pt x="17688" y="13275"/>
                    </a:lnTo>
                    <a:cubicBezTo>
                      <a:pt x="17688" y="12925"/>
                      <a:pt x="17397" y="12633"/>
                      <a:pt x="17047" y="12633"/>
                    </a:cubicBezTo>
                    <a:lnTo>
                      <a:pt x="16113" y="12633"/>
                    </a:lnTo>
                    <a:cubicBezTo>
                      <a:pt x="16054" y="12400"/>
                      <a:pt x="15937" y="12284"/>
                      <a:pt x="15880" y="12051"/>
                    </a:cubicBezTo>
                    <a:lnTo>
                      <a:pt x="16521" y="11412"/>
                    </a:lnTo>
                    <a:cubicBezTo>
                      <a:pt x="16754" y="11179"/>
                      <a:pt x="16754" y="10713"/>
                      <a:pt x="16521" y="10538"/>
                    </a:cubicBezTo>
                    <a:lnTo>
                      <a:pt x="14713" y="8675"/>
                    </a:lnTo>
                    <a:cubicBezTo>
                      <a:pt x="14596" y="8588"/>
                      <a:pt x="14435" y="8544"/>
                      <a:pt x="14273" y="8544"/>
                    </a:cubicBezTo>
                    <a:cubicBezTo>
                      <a:pt x="14114" y="8544"/>
                      <a:pt x="13953" y="8588"/>
                      <a:pt x="13836" y="8675"/>
                    </a:cubicBezTo>
                    <a:lnTo>
                      <a:pt x="13193" y="9373"/>
                    </a:lnTo>
                    <a:cubicBezTo>
                      <a:pt x="13019" y="9314"/>
                      <a:pt x="12843" y="9198"/>
                      <a:pt x="12609" y="9140"/>
                    </a:cubicBezTo>
                    <a:lnTo>
                      <a:pt x="12609" y="8209"/>
                    </a:lnTo>
                    <a:cubicBezTo>
                      <a:pt x="12609" y="7801"/>
                      <a:pt x="12319" y="7510"/>
                      <a:pt x="11968" y="7510"/>
                    </a:cubicBezTo>
                    <a:lnTo>
                      <a:pt x="9400" y="7510"/>
                    </a:lnTo>
                    <a:cubicBezTo>
                      <a:pt x="9050" y="7510"/>
                      <a:pt x="8757" y="7801"/>
                      <a:pt x="8757" y="8209"/>
                    </a:cubicBezTo>
                    <a:lnTo>
                      <a:pt x="8757" y="9140"/>
                    </a:lnTo>
                    <a:cubicBezTo>
                      <a:pt x="8524" y="9198"/>
                      <a:pt x="8349" y="9257"/>
                      <a:pt x="8173" y="9373"/>
                    </a:cubicBezTo>
                    <a:lnTo>
                      <a:pt x="7473" y="8675"/>
                    </a:lnTo>
                    <a:cubicBezTo>
                      <a:pt x="7386" y="8588"/>
                      <a:pt x="7225" y="8544"/>
                      <a:pt x="7056" y="8544"/>
                    </a:cubicBezTo>
                    <a:cubicBezTo>
                      <a:pt x="6889" y="8544"/>
                      <a:pt x="6713" y="8588"/>
                      <a:pt x="6597" y="8675"/>
                    </a:cubicBezTo>
                    <a:lnTo>
                      <a:pt x="4788" y="10538"/>
                    </a:lnTo>
                    <a:cubicBezTo>
                      <a:pt x="4555" y="10770"/>
                      <a:pt x="4555" y="11179"/>
                      <a:pt x="4788" y="11412"/>
                    </a:cubicBezTo>
                    <a:lnTo>
                      <a:pt x="5429" y="12051"/>
                    </a:lnTo>
                    <a:cubicBezTo>
                      <a:pt x="5372" y="12168"/>
                      <a:pt x="5312" y="12400"/>
                      <a:pt x="5255" y="12633"/>
                    </a:cubicBezTo>
                    <a:lnTo>
                      <a:pt x="4262" y="12633"/>
                    </a:lnTo>
                    <a:cubicBezTo>
                      <a:pt x="3912" y="12633"/>
                      <a:pt x="3621" y="12925"/>
                      <a:pt x="3621" y="13275"/>
                    </a:cubicBezTo>
                    <a:lnTo>
                      <a:pt x="3621" y="15836"/>
                    </a:lnTo>
                    <a:cubicBezTo>
                      <a:pt x="3621" y="16185"/>
                      <a:pt x="3912" y="16477"/>
                      <a:pt x="4262" y="16477"/>
                    </a:cubicBezTo>
                    <a:lnTo>
                      <a:pt x="5255" y="16477"/>
                    </a:lnTo>
                    <a:cubicBezTo>
                      <a:pt x="5312" y="16710"/>
                      <a:pt x="5372" y="16884"/>
                      <a:pt x="5429" y="17059"/>
                    </a:cubicBezTo>
                    <a:lnTo>
                      <a:pt x="4788" y="17758"/>
                    </a:lnTo>
                    <a:lnTo>
                      <a:pt x="1810" y="17758"/>
                    </a:lnTo>
                    <a:cubicBezTo>
                      <a:pt x="1460" y="17758"/>
                      <a:pt x="1167" y="17466"/>
                      <a:pt x="1167" y="17059"/>
                    </a:cubicBezTo>
                    <a:lnTo>
                      <a:pt x="1167" y="6230"/>
                    </a:lnTo>
                    <a:close/>
                    <a:moveTo>
                      <a:pt x="11325" y="8732"/>
                    </a:moveTo>
                    <a:lnTo>
                      <a:pt x="11325" y="9490"/>
                    </a:lnTo>
                    <a:cubicBezTo>
                      <a:pt x="11325" y="9782"/>
                      <a:pt x="11501" y="10015"/>
                      <a:pt x="11792" y="10072"/>
                    </a:cubicBezTo>
                    <a:cubicBezTo>
                      <a:pt x="12142" y="10188"/>
                      <a:pt x="12609" y="10364"/>
                      <a:pt x="12960" y="10597"/>
                    </a:cubicBezTo>
                    <a:cubicBezTo>
                      <a:pt x="13047" y="10660"/>
                      <a:pt x="13149" y="10685"/>
                      <a:pt x="13254" y="10685"/>
                    </a:cubicBezTo>
                    <a:cubicBezTo>
                      <a:pt x="13436" y="10685"/>
                      <a:pt x="13630" y="10611"/>
                      <a:pt x="13777" y="10538"/>
                    </a:cubicBezTo>
                    <a:lnTo>
                      <a:pt x="14362" y="9955"/>
                    </a:lnTo>
                    <a:lnTo>
                      <a:pt x="15237" y="10830"/>
                    </a:lnTo>
                    <a:lnTo>
                      <a:pt x="14653" y="11412"/>
                    </a:lnTo>
                    <a:cubicBezTo>
                      <a:pt x="14420" y="11645"/>
                      <a:pt x="14420" y="11935"/>
                      <a:pt x="14596" y="12227"/>
                    </a:cubicBezTo>
                    <a:cubicBezTo>
                      <a:pt x="14770" y="12576"/>
                      <a:pt x="14946" y="12925"/>
                      <a:pt x="15063" y="13391"/>
                    </a:cubicBezTo>
                    <a:cubicBezTo>
                      <a:pt x="15179" y="13681"/>
                      <a:pt x="15354" y="13857"/>
                      <a:pt x="15646" y="13857"/>
                    </a:cubicBezTo>
                    <a:lnTo>
                      <a:pt x="16464" y="13857"/>
                    </a:lnTo>
                    <a:lnTo>
                      <a:pt x="16464" y="15137"/>
                    </a:lnTo>
                    <a:lnTo>
                      <a:pt x="15646" y="15137"/>
                    </a:lnTo>
                    <a:cubicBezTo>
                      <a:pt x="15354" y="15137"/>
                      <a:pt x="15179" y="15311"/>
                      <a:pt x="15063" y="15603"/>
                    </a:cubicBezTo>
                    <a:cubicBezTo>
                      <a:pt x="15003" y="16011"/>
                      <a:pt x="14770" y="16418"/>
                      <a:pt x="14596" y="16767"/>
                    </a:cubicBezTo>
                    <a:cubicBezTo>
                      <a:pt x="14420" y="17000"/>
                      <a:pt x="14479" y="17349"/>
                      <a:pt x="14653" y="17582"/>
                    </a:cubicBezTo>
                    <a:lnTo>
                      <a:pt x="15237" y="18164"/>
                    </a:lnTo>
                    <a:lnTo>
                      <a:pt x="14362" y="19039"/>
                    </a:lnTo>
                    <a:lnTo>
                      <a:pt x="13777" y="18456"/>
                    </a:lnTo>
                    <a:cubicBezTo>
                      <a:pt x="13653" y="18331"/>
                      <a:pt x="13510" y="18274"/>
                      <a:pt x="13362" y="18274"/>
                    </a:cubicBezTo>
                    <a:cubicBezTo>
                      <a:pt x="13232" y="18274"/>
                      <a:pt x="13097" y="18316"/>
                      <a:pt x="12960" y="18397"/>
                    </a:cubicBezTo>
                    <a:cubicBezTo>
                      <a:pt x="12609" y="18630"/>
                      <a:pt x="12259" y="18747"/>
                      <a:pt x="11792" y="18863"/>
                    </a:cubicBezTo>
                    <a:cubicBezTo>
                      <a:pt x="11501" y="18979"/>
                      <a:pt x="11325" y="19155"/>
                      <a:pt x="11325" y="19504"/>
                    </a:cubicBezTo>
                    <a:lnTo>
                      <a:pt x="11325" y="20260"/>
                    </a:lnTo>
                    <a:lnTo>
                      <a:pt x="10041" y="20260"/>
                    </a:lnTo>
                    <a:lnTo>
                      <a:pt x="10041" y="19504"/>
                    </a:lnTo>
                    <a:cubicBezTo>
                      <a:pt x="10041" y="19155"/>
                      <a:pt x="9867" y="18979"/>
                      <a:pt x="9574" y="18863"/>
                    </a:cubicBezTo>
                    <a:cubicBezTo>
                      <a:pt x="9167" y="18806"/>
                      <a:pt x="8757" y="18573"/>
                      <a:pt x="8407" y="18397"/>
                    </a:cubicBezTo>
                    <a:cubicBezTo>
                      <a:pt x="8322" y="18333"/>
                      <a:pt x="8220" y="18309"/>
                      <a:pt x="8114" y="18309"/>
                    </a:cubicBezTo>
                    <a:cubicBezTo>
                      <a:pt x="7933" y="18309"/>
                      <a:pt x="7738" y="18383"/>
                      <a:pt x="7590" y="18456"/>
                    </a:cubicBezTo>
                    <a:lnTo>
                      <a:pt x="7006" y="19039"/>
                    </a:lnTo>
                    <a:lnTo>
                      <a:pt x="6130" y="18164"/>
                    </a:lnTo>
                    <a:lnTo>
                      <a:pt x="6713" y="17582"/>
                    </a:lnTo>
                    <a:cubicBezTo>
                      <a:pt x="6947" y="17349"/>
                      <a:pt x="6947" y="17059"/>
                      <a:pt x="6773" y="16767"/>
                    </a:cubicBezTo>
                    <a:cubicBezTo>
                      <a:pt x="6539" y="16418"/>
                      <a:pt x="6422" y="16069"/>
                      <a:pt x="6246" y="15603"/>
                    </a:cubicBezTo>
                    <a:cubicBezTo>
                      <a:pt x="6189" y="15311"/>
                      <a:pt x="5955" y="15137"/>
                      <a:pt x="5663" y="15137"/>
                    </a:cubicBezTo>
                    <a:lnTo>
                      <a:pt x="4905" y="15137"/>
                    </a:lnTo>
                    <a:lnTo>
                      <a:pt x="4905" y="13857"/>
                    </a:lnTo>
                    <a:lnTo>
                      <a:pt x="5663" y="13857"/>
                    </a:lnTo>
                    <a:cubicBezTo>
                      <a:pt x="5955" y="13857"/>
                      <a:pt x="6189" y="13681"/>
                      <a:pt x="6246" y="13391"/>
                    </a:cubicBezTo>
                    <a:cubicBezTo>
                      <a:pt x="6363" y="12983"/>
                      <a:pt x="6539" y="12576"/>
                      <a:pt x="6773" y="12227"/>
                    </a:cubicBezTo>
                    <a:cubicBezTo>
                      <a:pt x="6947" y="11994"/>
                      <a:pt x="6830" y="11645"/>
                      <a:pt x="6713" y="11412"/>
                    </a:cubicBezTo>
                    <a:lnTo>
                      <a:pt x="6130" y="10830"/>
                    </a:lnTo>
                    <a:lnTo>
                      <a:pt x="7006" y="9955"/>
                    </a:lnTo>
                    <a:lnTo>
                      <a:pt x="7590" y="10538"/>
                    </a:lnTo>
                    <a:cubicBezTo>
                      <a:pt x="7714" y="10663"/>
                      <a:pt x="7857" y="10721"/>
                      <a:pt x="8007" y="10721"/>
                    </a:cubicBezTo>
                    <a:cubicBezTo>
                      <a:pt x="8136" y="10721"/>
                      <a:pt x="8272" y="10676"/>
                      <a:pt x="8407" y="10597"/>
                    </a:cubicBezTo>
                    <a:cubicBezTo>
                      <a:pt x="8757" y="10364"/>
                      <a:pt x="9107" y="10247"/>
                      <a:pt x="9574" y="10072"/>
                    </a:cubicBezTo>
                    <a:cubicBezTo>
                      <a:pt x="9867" y="10015"/>
                      <a:pt x="10041" y="9782"/>
                      <a:pt x="10041" y="9490"/>
                    </a:cubicBezTo>
                    <a:lnTo>
                      <a:pt x="10041" y="8732"/>
                    </a:lnTo>
                    <a:close/>
                    <a:moveTo>
                      <a:pt x="1868" y="0"/>
                    </a:moveTo>
                    <a:cubicBezTo>
                      <a:pt x="876" y="0"/>
                      <a:pt x="0" y="872"/>
                      <a:pt x="0" y="1863"/>
                    </a:cubicBezTo>
                    <a:lnTo>
                      <a:pt x="0" y="17176"/>
                    </a:lnTo>
                    <a:cubicBezTo>
                      <a:pt x="0" y="18164"/>
                      <a:pt x="876" y="19039"/>
                      <a:pt x="1868" y="19039"/>
                    </a:cubicBezTo>
                    <a:lnTo>
                      <a:pt x="5312" y="19039"/>
                    </a:lnTo>
                    <a:lnTo>
                      <a:pt x="6713" y="20436"/>
                    </a:lnTo>
                    <a:cubicBezTo>
                      <a:pt x="6802" y="20552"/>
                      <a:pt x="6962" y="20609"/>
                      <a:pt x="7130" y="20609"/>
                    </a:cubicBezTo>
                    <a:cubicBezTo>
                      <a:pt x="7297" y="20609"/>
                      <a:pt x="7473" y="20552"/>
                      <a:pt x="7590" y="20436"/>
                    </a:cubicBezTo>
                    <a:lnTo>
                      <a:pt x="8231" y="19794"/>
                    </a:lnTo>
                    <a:cubicBezTo>
                      <a:pt x="8349" y="19854"/>
                      <a:pt x="8583" y="19911"/>
                      <a:pt x="8816" y="19970"/>
                    </a:cubicBezTo>
                    <a:lnTo>
                      <a:pt x="8816" y="20959"/>
                    </a:lnTo>
                    <a:cubicBezTo>
                      <a:pt x="8816" y="21308"/>
                      <a:pt x="9107" y="21600"/>
                      <a:pt x="9458" y="21600"/>
                    </a:cubicBezTo>
                    <a:lnTo>
                      <a:pt x="12026" y="21600"/>
                    </a:lnTo>
                    <a:cubicBezTo>
                      <a:pt x="12376" y="21600"/>
                      <a:pt x="12669" y="21308"/>
                      <a:pt x="12669" y="20959"/>
                    </a:cubicBezTo>
                    <a:lnTo>
                      <a:pt x="12669" y="19970"/>
                    </a:lnTo>
                    <a:cubicBezTo>
                      <a:pt x="12902" y="19911"/>
                      <a:pt x="13019" y="19854"/>
                      <a:pt x="13252" y="19794"/>
                    </a:cubicBezTo>
                    <a:lnTo>
                      <a:pt x="13894" y="20436"/>
                    </a:lnTo>
                    <a:cubicBezTo>
                      <a:pt x="14010" y="20552"/>
                      <a:pt x="14186" y="20609"/>
                      <a:pt x="14355" y="20609"/>
                    </a:cubicBezTo>
                    <a:cubicBezTo>
                      <a:pt x="14522" y="20609"/>
                      <a:pt x="14683" y="20552"/>
                      <a:pt x="14770" y="20436"/>
                    </a:cubicBezTo>
                    <a:lnTo>
                      <a:pt x="16171" y="19039"/>
                    </a:lnTo>
                    <a:lnTo>
                      <a:pt x="19673" y="19039"/>
                    </a:lnTo>
                    <a:cubicBezTo>
                      <a:pt x="20725" y="19039"/>
                      <a:pt x="21600" y="18164"/>
                      <a:pt x="21600" y="17176"/>
                    </a:cubicBezTo>
                    <a:lnTo>
                      <a:pt x="21600" y="1863"/>
                    </a:lnTo>
                    <a:cubicBezTo>
                      <a:pt x="21600" y="872"/>
                      <a:pt x="20783" y="0"/>
                      <a:pt x="196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45" name="Google Shape;1016;p32"/>
              <p:cNvSpPr/>
              <p:nvPr/>
            </p:nvSpPr>
            <p:spPr>
              <a:xfrm>
                <a:off x="31978" y="31978"/>
                <a:ext cx="17487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23" y="0"/>
                    </a:moveTo>
                    <a:cubicBezTo>
                      <a:pt x="4684" y="0"/>
                      <a:pt x="0" y="4678"/>
                      <a:pt x="0" y="10308"/>
                    </a:cubicBezTo>
                    <a:cubicBezTo>
                      <a:pt x="0" y="15939"/>
                      <a:pt x="4684" y="21600"/>
                      <a:pt x="10323" y="21600"/>
                    </a:cubicBezTo>
                    <a:cubicBezTo>
                      <a:pt x="16916" y="21600"/>
                      <a:pt x="21600" y="15939"/>
                      <a:pt x="21600" y="10308"/>
                    </a:cubicBezTo>
                    <a:cubicBezTo>
                      <a:pt x="21600" y="4678"/>
                      <a:pt x="16916" y="0"/>
                      <a:pt x="103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46" name="Google Shape;1017;p32"/>
              <p:cNvSpPr/>
              <p:nvPr/>
            </p:nvSpPr>
            <p:spPr>
              <a:xfrm>
                <a:off x="65453" y="31978"/>
                <a:ext cx="16739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784" y="0"/>
                    </a:moveTo>
                    <a:cubicBezTo>
                      <a:pt x="4894" y="0"/>
                      <a:pt x="0" y="4678"/>
                      <a:pt x="0" y="10308"/>
                    </a:cubicBezTo>
                    <a:cubicBezTo>
                      <a:pt x="0" y="16893"/>
                      <a:pt x="4894" y="21600"/>
                      <a:pt x="10784" y="21600"/>
                    </a:cubicBezTo>
                    <a:cubicBezTo>
                      <a:pt x="16675" y="21600"/>
                      <a:pt x="21600" y="16893"/>
                      <a:pt x="21600" y="10308"/>
                    </a:cubicBezTo>
                    <a:cubicBezTo>
                      <a:pt x="21600" y="4678"/>
                      <a:pt x="16675" y="0"/>
                      <a:pt x="107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47" name="Google Shape;1018;p32"/>
              <p:cNvSpPr/>
              <p:nvPr/>
            </p:nvSpPr>
            <p:spPr>
              <a:xfrm>
                <a:off x="98929" y="31978"/>
                <a:ext cx="16739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784" y="0"/>
                    </a:moveTo>
                    <a:cubicBezTo>
                      <a:pt x="4894" y="0"/>
                      <a:pt x="0" y="4678"/>
                      <a:pt x="0" y="10308"/>
                    </a:cubicBezTo>
                    <a:cubicBezTo>
                      <a:pt x="0" y="16893"/>
                      <a:pt x="4894" y="21600"/>
                      <a:pt x="10784" y="21600"/>
                    </a:cubicBezTo>
                    <a:cubicBezTo>
                      <a:pt x="16706" y="21600"/>
                      <a:pt x="21600" y="16893"/>
                      <a:pt x="21600" y="10308"/>
                    </a:cubicBezTo>
                    <a:cubicBezTo>
                      <a:pt x="21600" y="4678"/>
                      <a:pt x="16706" y="0"/>
                      <a:pt x="107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48" name="Google Shape;1019;p32"/>
              <p:cNvSpPr/>
              <p:nvPr/>
            </p:nvSpPr>
            <p:spPr>
              <a:xfrm>
                <a:off x="130883" y="31978"/>
                <a:ext cx="116417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55" y="0"/>
                    </a:moveTo>
                    <a:cubicBezTo>
                      <a:pt x="708" y="0"/>
                      <a:pt x="0" y="4678"/>
                      <a:pt x="0" y="10308"/>
                    </a:cubicBezTo>
                    <a:cubicBezTo>
                      <a:pt x="143" y="16893"/>
                      <a:pt x="847" y="21600"/>
                      <a:pt x="1555" y="21600"/>
                    </a:cubicBezTo>
                    <a:lnTo>
                      <a:pt x="19906" y="21600"/>
                    </a:lnTo>
                    <a:cubicBezTo>
                      <a:pt x="20896" y="21600"/>
                      <a:pt x="21600" y="16893"/>
                      <a:pt x="21600" y="10308"/>
                    </a:cubicBezTo>
                    <a:cubicBezTo>
                      <a:pt x="21600" y="4678"/>
                      <a:pt x="20896" y="0"/>
                      <a:pt x="199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49" name="Google Shape;1020;p32"/>
              <p:cNvSpPr/>
              <p:nvPr/>
            </p:nvSpPr>
            <p:spPr>
              <a:xfrm>
                <a:off x="98929" y="149915"/>
                <a:ext cx="81441" cy="821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9" h="21600" fill="norm" stroke="1" extrusionOk="0">
                    <a:moveTo>
                      <a:pt x="10603" y="4202"/>
                    </a:moveTo>
                    <a:cubicBezTo>
                      <a:pt x="14203" y="4202"/>
                      <a:pt x="17200" y="7198"/>
                      <a:pt x="17200" y="10797"/>
                    </a:cubicBezTo>
                    <a:cubicBezTo>
                      <a:pt x="17200" y="14199"/>
                      <a:pt x="14400" y="17201"/>
                      <a:pt x="10603" y="17201"/>
                    </a:cubicBezTo>
                    <a:cubicBezTo>
                      <a:pt x="7200" y="17201"/>
                      <a:pt x="4203" y="14199"/>
                      <a:pt x="4203" y="10797"/>
                    </a:cubicBezTo>
                    <a:cubicBezTo>
                      <a:pt x="4203" y="7198"/>
                      <a:pt x="7200" y="4202"/>
                      <a:pt x="10603" y="4202"/>
                    </a:cubicBezTo>
                    <a:close/>
                    <a:moveTo>
                      <a:pt x="10603" y="0"/>
                    </a:moveTo>
                    <a:cubicBezTo>
                      <a:pt x="4603" y="0"/>
                      <a:pt x="0" y="4799"/>
                      <a:pt x="0" y="10797"/>
                    </a:cubicBezTo>
                    <a:cubicBezTo>
                      <a:pt x="0" y="16801"/>
                      <a:pt x="4603" y="21600"/>
                      <a:pt x="10603" y="21600"/>
                    </a:cubicBezTo>
                    <a:cubicBezTo>
                      <a:pt x="16603" y="21600"/>
                      <a:pt x="21403" y="16801"/>
                      <a:pt x="21403" y="10797"/>
                    </a:cubicBezTo>
                    <a:cubicBezTo>
                      <a:pt x="21600" y="4799"/>
                      <a:pt x="16603" y="0"/>
                      <a:pt x="106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</p:grpSp>
        <p:sp>
          <p:nvSpPr>
            <p:cNvPr id="551" name="文本框 43"/>
            <p:cNvSpPr txBox="1"/>
            <p:nvPr/>
          </p:nvSpPr>
          <p:spPr>
            <a:xfrm>
              <a:off x="267193" y="549644"/>
              <a:ext cx="2576745" cy="2913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just">
                <a:lnSpc>
                  <a:spcPts val="1500"/>
                </a:lnSpc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负责平台界面功能开发。</a:t>
              </a:r>
            </a:p>
          </p:txBody>
        </p:sp>
        <p:sp>
          <p:nvSpPr>
            <p:cNvPr id="552" name="文本框 44"/>
            <p:cNvSpPr txBox="1"/>
            <p:nvPr/>
          </p:nvSpPr>
          <p:spPr>
            <a:xfrm>
              <a:off x="257643" y="177554"/>
              <a:ext cx="2082527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304086"/>
                  </a:solidFill>
                </a:defRPr>
              </a:lvl1pPr>
            </a:lstStyle>
            <a:p>
              <a:pPr/>
              <a:r>
                <a:t>前端开发工程师（1）</a:t>
              </a:r>
            </a:p>
          </p:txBody>
        </p:sp>
      </p:grpSp>
      <p:grpSp>
        <p:nvGrpSpPr>
          <p:cNvPr id="564" name="组合 51"/>
          <p:cNvGrpSpPr/>
          <p:nvPr/>
        </p:nvGrpSpPr>
        <p:grpSpPr>
          <a:xfrm>
            <a:off x="8463285" y="2270822"/>
            <a:ext cx="3050598" cy="1249932"/>
            <a:chOff x="0" y="0"/>
            <a:chExt cx="3050597" cy="1249930"/>
          </a:xfrm>
        </p:grpSpPr>
        <p:sp>
          <p:nvSpPr>
            <p:cNvPr id="554" name="矩形: 圆角 240"/>
            <p:cNvSpPr/>
            <p:nvPr/>
          </p:nvSpPr>
          <p:spPr>
            <a:xfrm>
              <a:off x="0" y="0"/>
              <a:ext cx="3050598" cy="1249931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561" name="Google Shape;1014;p32"/>
            <p:cNvGrpSpPr/>
            <p:nvPr/>
          </p:nvGrpSpPr>
          <p:grpSpPr>
            <a:xfrm>
              <a:off x="2546776" y="179046"/>
              <a:ext cx="281549" cy="282296"/>
              <a:chOff x="0" y="24"/>
              <a:chExt cx="281547" cy="282295"/>
            </a:xfrm>
          </p:grpSpPr>
          <p:sp>
            <p:nvSpPr>
              <p:cNvPr id="555" name="Google Shape;1015;p32"/>
              <p:cNvSpPr/>
              <p:nvPr/>
            </p:nvSpPr>
            <p:spPr>
              <a:xfrm>
                <a:off x="0" y="24"/>
                <a:ext cx="281548" cy="282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9673" y="1222"/>
                    </a:moveTo>
                    <a:cubicBezTo>
                      <a:pt x="20023" y="1222"/>
                      <a:pt x="20316" y="1514"/>
                      <a:pt x="20316" y="1863"/>
                    </a:cubicBezTo>
                    <a:lnTo>
                      <a:pt x="20316" y="5006"/>
                    </a:lnTo>
                    <a:lnTo>
                      <a:pt x="1227" y="5006"/>
                    </a:lnTo>
                    <a:lnTo>
                      <a:pt x="1227" y="1863"/>
                    </a:lnTo>
                    <a:cubicBezTo>
                      <a:pt x="1227" y="1514"/>
                      <a:pt x="1518" y="1222"/>
                      <a:pt x="1868" y="1222"/>
                    </a:cubicBezTo>
                    <a:close/>
                    <a:moveTo>
                      <a:pt x="20258" y="6230"/>
                    </a:moveTo>
                    <a:lnTo>
                      <a:pt x="20258" y="17059"/>
                    </a:lnTo>
                    <a:cubicBezTo>
                      <a:pt x="20316" y="17525"/>
                      <a:pt x="20023" y="17758"/>
                      <a:pt x="19673" y="17758"/>
                    </a:cubicBezTo>
                    <a:lnTo>
                      <a:pt x="16521" y="17758"/>
                    </a:lnTo>
                    <a:lnTo>
                      <a:pt x="15880" y="17059"/>
                    </a:lnTo>
                    <a:cubicBezTo>
                      <a:pt x="15937" y="16943"/>
                      <a:pt x="16054" y="16710"/>
                      <a:pt x="16113" y="16477"/>
                    </a:cubicBezTo>
                    <a:lnTo>
                      <a:pt x="17047" y="16477"/>
                    </a:lnTo>
                    <a:cubicBezTo>
                      <a:pt x="17397" y="16477"/>
                      <a:pt x="17688" y="16185"/>
                      <a:pt x="17688" y="15836"/>
                    </a:cubicBezTo>
                    <a:lnTo>
                      <a:pt x="17688" y="13275"/>
                    </a:lnTo>
                    <a:cubicBezTo>
                      <a:pt x="17688" y="12925"/>
                      <a:pt x="17397" y="12633"/>
                      <a:pt x="17047" y="12633"/>
                    </a:cubicBezTo>
                    <a:lnTo>
                      <a:pt x="16113" y="12633"/>
                    </a:lnTo>
                    <a:cubicBezTo>
                      <a:pt x="16054" y="12400"/>
                      <a:pt x="15937" y="12284"/>
                      <a:pt x="15880" y="12051"/>
                    </a:cubicBezTo>
                    <a:lnTo>
                      <a:pt x="16521" y="11412"/>
                    </a:lnTo>
                    <a:cubicBezTo>
                      <a:pt x="16754" y="11179"/>
                      <a:pt x="16754" y="10713"/>
                      <a:pt x="16521" y="10538"/>
                    </a:cubicBezTo>
                    <a:lnTo>
                      <a:pt x="14713" y="8675"/>
                    </a:lnTo>
                    <a:cubicBezTo>
                      <a:pt x="14596" y="8588"/>
                      <a:pt x="14435" y="8544"/>
                      <a:pt x="14273" y="8544"/>
                    </a:cubicBezTo>
                    <a:cubicBezTo>
                      <a:pt x="14114" y="8544"/>
                      <a:pt x="13953" y="8588"/>
                      <a:pt x="13836" y="8675"/>
                    </a:cubicBezTo>
                    <a:lnTo>
                      <a:pt x="13193" y="9373"/>
                    </a:lnTo>
                    <a:cubicBezTo>
                      <a:pt x="13019" y="9314"/>
                      <a:pt x="12843" y="9198"/>
                      <a:pt x="12609" y="9140"/>
                    </a:cubicBezTo>
                    <a:lnTo>
                      <a:pt x="12609" y="8209"/>
                    </a:lnTo>
                    <a:cubicBezTo>
                      <a:pt x="12609" y="7801"/>
                      <a:pt x="12319" y="7510"/>
                      <a:pt x="11968" y="7510"/>
                    </a:cubicBezTo>
                    <a:lnTo>
                      <a:pt x="9400" y="7510"/>
                    </a:lnTo>
                    <a:cubicBezTo>
                      <a:pt x="9050" y="7510"/>
                      <a:pt x="8757" y="7801"/>
                      <a:pt x="8757" y="8209"/>
                    </a:cubicBezTo>
                    <a:lnTo>
                      <a:pt x="8757" y="9140"/>
                    </a:lnTo>
                    <a:cubicBezTo>
                      <a:pt x="8524" y="9198"/>
                      <a:pt x="8349" y="9257"/>
                      <a:pt x="8173" y="9373"/>
                    </a:cubicBezTo>
                    <a:lnTo>
                      <a:pt x="7473" y="8675"/>
                    </a:lnTo>
                    <a:cubicBezTo>
                      <a:pt x="7386" y="8588"/>
                      <a:pt x="7225" y="8544"/>
                      <a:pt x="7056" y="8544"/>
                    </a:cubicBezTo>
                    <a:cubicBezTo>
                      <a:pt x="6889" y="8544"/>
                      <a:pt x="6713" y="8588"/>
                      <a:pt x="6597" y="8675"/>
                    </a:cubicBezTo>
                    <a:lnTo>
                      <a:pt x="4788" y="10538"/>
                    </a:lnTo>
                    <a:cubicBezTo>
                      <a:pt x="4555" y="10770"/>
                      <a:pt x="4555" y="11179"/>
                      <a:pt x="4788" y="11412"/>
                    </a:cubicBezTo>
                    <a:lnTo>
                      <a:pt x="5429" y="12051"/>
                    </a:lnTo>
                    <a:cubicBezTo>
                      <a:pt x="5372" y="12168"/>
                      <a:pt x="5312" y="12400"/>
                      <a:pt x="5255" y="12633"/>
                    </a:cubicBezTo>
                    <a:lnTo>
                      <a:pt x="4262" y="12633"/>
                    </a:lnTo>
                    <a:cubicBezTo>
                      <a:pt x="3912" y="12633"/>
                      <a:pt x="3621" y="12925"/>
                      <a:pt x="3621" y="13275"/>
                    </a:cubicBezTo>
                    <a:lnTo>
                      <a:pt x="3621" y="15836"/>
                    </a:lnTo>
                    <a:cubicBezTo>
                      <a:pt x="3621" y="16185"/>
                      <a:pt x="3912" y="16477"/>
                      <a:pt x="4262" y="16477"/>
                    </a:cubicBezTo>
                    <a:lnTo>
                      <a:pt x="5255" y="16477"/>
                    </a:lnTo>
                    <a:cubicBezTo>
                      <a:pt x="5312" y="16710"/>
                      <a:pt x="5372" y="16884"/>
                      <a:pt x="5429" y="17059"/>
                    </a:cubicBezTo>
                    <a:lnTo>
                      <a:pt x="4788" y="17758"/>
                    </a:lnTo>
                    <a:lnTo>
                      <a:pt x="1810" y="17758"/>
                    </a:lnTo>
                    <a:cubicBezTo>
                      <a:pt x="1460" y="17758"/>
                      <a:pt x="1167" y="17466"/>
                      <a:pt x="1167" y="17059"/>
                    </a:cubicBezTo>
                    <a:lnTo>
                      <a:pt x="1167" y="6230"/>
                    </a:lnTo>
                    <a:close/>
                    <a:moveTo>
                      <a:pt x="11325" y="8732"/>
                    </a:moveTo>
                    <a:lnTo>
                      <a:pt x="11325" y="9490"/>
                    </a:lnTo>
                    <a:cubicBezTo>
                      <a:pt x="11325" y="9782"/>
                      <a:pt x="11501" y="10015"/>
                      <a:pt x="11792" y="10072"/>
                    </a:cubicBezTo>
                    <a:cubicBezTo>
                      <a:pt x="12142" y="10188"/>
                      <a:pt x="12609" y="10364"/>
                      <a:pt x="12960" y="10597"/>
                    </a:cubicBezTo>
                    <a:cubicBezTo>
                      <a:pt x="13047" y="10660"/>
                      <a:pt x="13149" y="10685"/>
                      <a:pt x="13254" y="10685"/>
                    </a:cubicBezTo>
                    <a:cubicBezTo>
                      <a:pt x="13436" y="10685"/>
                      <a:pt x="13630" y="10611"/>
                      <a:pt x="13777" y="10538"/>
                    </a:cubicBezTo>
                    <a:lnTo>
                      <a:pt x="14362" y="9955"/>
                    </a:lnTo>
                    <a:lnTo>
                      <a:pt x="15237" y="10830"/>
                    </a:lnTo>
                    <a:lnTo>
                      <a:pt x="14653" y="11412"/>
                    </a:lnTo>
                    <a:cubicBezTo>
                      <a:pt x="14420" y="11645"/>
                      <a:pt x="14420" y="11935"/>
                      <a:pt x="14596" y="12227"/>
                    </a:cubicBezTo>
                    <a:cubicBezTo>
                      <a:pt x="14770" y="12576"/>
                      <a:pt x="14946" y="12925"/>
                      <a:pt x="15063" y="13391"/>
                    </a:cubicBezTo>
                    <a:cubicBezTo>
                      <a:pt x="15179" y="13681"/>
                      <a:pt x="15354" y="13857"/>
                      <a:pt x="15646" y="13857"/>
                    </a:cubicBezTo>
                    <a:lnTo>
                      <a:pt x="16464" y="13857"/>
                    </a:lnTo>
                    <a:lnTo>
                      <a:pt x="16464" y="15137"/>
                    </a:lnTo>
                    <a:lnTo>
                      <a:pt x="15646" y="15137"/>
                    </a:lnTo>
                    <a:cubicBezTo>
                      <a:pt x="15354" y="15137"/>
                      <a:pt x="15179" y="15311"/>
                      <a:pt x="15063" y="15603"/>
                    </a:cubicBezTo>
                    <a:cubicBezTo>
                      <a:pt x="15003" y="16011"/>
                      <a:pt x="14770" y="16418"/>
                      <a:pt x="14596" y="16767"/>
                    </a:cubicBezTo>
                    <a:cubicBezTo>
                      <a:pt x="14420" y="17000"/>
                      <a:pt x="14479" y="17349"/>
                      <a:pt x="14653" y="17582"/>
                    </a:cubicBezTo>
                    <a:lnTo>
                      <a:pt x="15237" y="18164"/>
                    </a:lnTo>
                    <a:lnTo>
                      <a:pt x="14362" y="19039"/>
                    </a:lnTo>
                    <a:lnTo>
                      <a:pt x="13777" y="18456"/>
                    </a:lnTo>
                    <a:cubicBezTo>
                      <a:pt x="13653" y="18331"/>
                      <a:pt x="13510" y="18274"/>
                      <a:pt x="13362" y="18274"/>
                    </a:cubicBezTo>
                    <a:cubicBezTo>
                      <a:pt x="13232" y="18274"/>
                      <a:pt x="13097" y="18316"/>
                      <a:pt x="12960" y="18397"/>
                    </a:cubicBezTo>
                    <a:cubicBezTo>
                      <a:pt x="12609" y="18630"/>
                      <a:pt x="12259" y="18747"/>
                      <a:pt x="11792" y="18863"/>
                    </a:cubicBezTo>
                    <a:cubicBezTo>
                      <a:pt x="11501" y="18979"/>
                      <a:pt x="11325" y="19155"/>
                      <a:pt x="11325" y="19504"/>
                    </a:cubicBezTo>
                    <a:lnTo>
                      <a:pt x="11325" y="20260"/>
                    </a:lnTo>
                    <a:lnTo>
                      <a:pt x="10041" y="20260"/>
                    </a:lnTo>
                    <a:lnTo>
                      <a:pt x="10041" y="19504"/>
                    </a:lnTo>
                    <a:cubicBezTo>
                      <a:pt x="10041" y="19155"/>
                      <a:pt x="9867" y="18979"/>
                      <a:pt x="9574" y="18863"/>
                    </a:cubicBezTo>
                    <a:cubicBezTo>
                      <a:pt x="9167" y="18806"/>
                      <a:pt x="8757" y="18573"/>
                      <a:pt x="8407" y="18397"/>
                    </a:cubicBezTo>
                    <a:cubicBezTo>
                      <a:pt x="8322" y="18333"/>
                      <a:pt x="8220" y="18309"/>
                      <a:pt x="8114" y="18309"/>
                    </a:cubicBezTo>
                    <a:cubicBezTo>
                      <a:pt x="7933" y="18309"/>
                      <a:pt x="7738" y="18383"/>
                      <a:pt x="7590" y="18456"/>
                    </a:cubicBezTo>
                    <a:lnTo>
                      <a:pt x="7006" y="19039"/>
                    </a:lnTo>
                    <a:lnTo>
                      <a:pt x="6130" y="18164"/>
                    </a:lnTo>
                    <a:lnTo>
                      <a:pt x="6713" y="17582"/>
                    </a:lnTo>
                    <a:cubicBezTo>
                      <a:pt x="6947" y="17349"/>
                      <a:pt x="6947" y="17059"/>
                      <a:pt x="6773" y="16767"/>
                    </a:cubicBezTo>
                    <a:cubicBezTo>
                      <a:pt x="6539" y="16418"/>
                      <a:pt x="6422" y="16069"/>
                      <a:pt x="6246" y="15603"/>
                    </a:cubicBezTo>
                    <a:cubicBezTo>
                      <a:pt x="6189" y="15311"/>
                      <a:pt x="5955" y="15137"/>
                      <a:pt x="5663" y="15137"/>
                    </a:cubicBezTo>
                    <a:lnTo>
                      <a:pt x="4905" y="15137"/>
                    </a:lnTo>
                    <a:lnTo>
                      <a:pt x="4905" y="13857"/>
                    </a:lnTo>
                    <a:lnTo>
                      <a:pt x="5663" y="13857"/>
                    </a:lnTo>
                    <a:cubicBezTo>
                      <a:pt x="5955" y="13857"/>
                      <a:pt x="6189" y="13681"/>
                      <a:pt x="6246" y="13391"/>
                    </a:cubicBezTo>
                    <a:cubicBezTo>
                      <a:pt x="6363" y="12983"/>
                      <a:pt x="6539" y="12576"/>
                      <a:pt x="6773" y="12227"/>
                    </a:cubicBezTo>
                    <a:cubicBezTo>
                      <a:pt x="6947" y="11994"/>
                      <a:pt x="6830" y="11645"/>
                      <a:pt x="6713" y="11412"/>
                    </a:cubicBezTo>
                    <a:lnTo>
                      <a:pt x="6130" y="10830"/>
                    </a:lnTo>
                    <a:lnTo>
                      <a:pt x="7006" y="9955"/>
                    </a:lnTo>
                    <a:lnTo>
                      <a:pt x="7590" y="10538"/>
                    </a:lnTo>
                    <a:cubicBezTo>
                      <a:pt x="7714" y="10663"/>
                      <a:pt x="7857" y="10721"/>
                      <a:pt x="8007" y="10721"/>
                    </a:cubicBezTo>
                    <a:cubicBezTo>
                      <a:pt x="8136" y="10721"/>
                      <a:pt x="8272" y="10676"/>
                      <a:pt x="8407" y="10597"/>
                    </a:cubicBezTo>
                    <a:cubicBezTo>
                      <a:pt x="8757" y="10364"/>
                      <a:pt x="9107" y="10247"/>
                      <a:pt x="9574" y="10072"/>
                    </a:cubicBezTo>
                    <a:cubicBezTo>
                      <a:pt x="9867" y="10015"/>
                      <a:pt x="10041" y="9782"/>
                      <a:pt x="10041" y="9490"/>
                    </a:cubicBezTo>
                    <a:lnTo>
                      <a:pt x="10041" y="8732"/>
                    </a:lnTo>
                    <a:close/>
                    <a:moveTo>
                      <a:pt x="1868" y="0"/>
                    </a:moveTo>
                    <a:cubicBezTo>
                      <a:pt x="876" y="0"/>
                      <a:pt x="0" y="872"/>
                      <a:pt x="0" y="1863"/>
                    </a:cubicBezTo>
                    <a:lnTo>
                      <a:pt x="0" y="17176"/>
                    </a:lnTo>
                    <a:cubicBezTo>
                      <a:pt x="0" y="18164"/>
                      <a:pt x="876" y="19039"/>
                      <a:pt x="1868" y="19039"/>
                    </a:cubicBezTo>
                    <a:lnTo>
                      <a:pt x="5312" y="19039"/>
                    </a:lnTo>
                    <a:lnTo>
                      <a:pt x="6713" y="20436"/>
                    </a:lnTo>
                    <a:cubicBezTo>
                      <a:pt x="6802" y="20552"/>
                      <a:pt x="6962" y="20609"/>
                      <a:pt x="7130" y="20609"/>
                    </a:cubicBezTo>
                    <a:cubicBezTo>
                      <a:pt x="7297" y="20609"/>
                      <a:pt x="7473" y="20552"/>
                      <a:pt x="7590" y="20436"/>
                    </a:cubicBezTo>
                    <a:lnTo>
                      <a:pt x="8231" y="19794"/>
                    </a:lnTo>
                    <a:cubicBezTo>
                      <a:pt x="8349" y="19854"/>
                      <a:pt x="8583" y="19911"/>
                      <a:pt x="8816" y="19970"/>
                    </a:cubicBezTo>
                    <a:lnTo>
                      <a:pt x="8816" y="20959"/>
                    </a:lnTo>
                    <a:cubicBezTo>
                      <a:pt x="8816" y="21308"/>
                      <a:pt x="9107" y="21600"/>
                      <a:pt x="9458" y="21600"/>
                    </a:cubicBezTo>
                    <a:lnTo>
                      <a:pt x="12026" y="21600"/>
                    </a:lnTo>
                    <a:cubicBezTo>
                      <a:pt x="12376" y="21600"/>
                      <a:pt x="12669" y="21308"/>
                      <a:pt x="12669" y="20959"/>
                    </a:cubicBezTo>
                    <a:lnTo>
                      <a:pt x="12669" y="19970"/>
                    </a:lnTo>
                    <a:cubicBezTo>
                      <a:pt x="12902" y="19911"/>
                      <a:pt x="13019" y="19854"/>
                      <a:pt x="13252" y="19794"/>
                    </a:cubicBezTo>
                    <a:lnTo>
                      <a:pt x="13894" y="20436"/>
                    </a:lnTo>
                    <a:cubicBezTo>
                      <a:pt x="14010" y="20552"/>
                      <a:pt x="14186" y="20609"/>
                      <a:pt x="14355" y="20609"/>
                    </a:cubicBezTo>
                    <a:cubicBezTo>
                      <a:pt x="14522" y="20609"/>
                      <a:pt x="14683" y="20552"/>
                      <a:pt x="14770" y="20436"/>
                    </a:cubicBezTo>
                    <a:lnTo>
                      <a:pt x="16171" y="19039"/>
                    </a:lnTo>
                    <a:lnTo>
                      <a:pt x="19673" y="19039"/>
                    </a:lnTo>
                    <a:cubicBezTo>
                      <a:pt x="20725" y="19039"/>
                      <a:pt x="21600" y="18164"/>
                      <a:pt x="21600" y="17176"/>
                    </a:cubicBezTo>
                    <a:lnTo>
                      <a:pt x="21600" y="1863"/>
                    </a:lnTo>
                    <a:cubicBezTo>
                      <a:pt x="21600" y="872"/>
                      <a:pt x="20783" y="0"/>
                      <a:pt x="196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56" name="Google Shape;1016;p32"/>
              <p:cNvSpPr/>
              <p:nvPr/>
            </p:nvSpPr>
            <p:spPr>
              <a:xfrm>
                <a:off x="31978" y="31978"/>
                <a:ext cx="17487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23" y="0"/>
                    </a:moveTo>
                    <a:cubicBezTo>
                      <a:pt x="4684" y="0"/>
                      <a:pt x="0" y="4678"/>
                      <a:pt x="0" y="10308"/>
                    </a:cubicBezTo>
                    <a:cubicBezTo>
                      <a:pt x="0" y="15939"/>
                      <a:pt x="4684" y="21600"/>
                      <a:pt x="10323" y="21600"/>
                    </a:cubicBezTo>
                    <a:cubicBezTo>
                      <a:pt x="16916" y="21600"/>
                      <a:pt x="21600" y="15939"/>
                      <a:pt x="21600" y="10308"/>
                    </a:cubicBezTo>
                    <a:cubicBezTo>
                      <a:pt x="21600" y="4678"/>
                      <a:pt x="16916" y="0"/>
                      <a:pt x="103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57" name="Google Shape;1017;p32"/>
              <p:cNvSpPr/>
              <p:nvPr/>
            </p:nvSpPr>
            <p:spPr>
              <a:xfrm>
                <a:off x="65453" y="31978"/>
                <a:ext cx="16739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784" y="0"/>
                    </a:moveTo>
                    <a:cubicBezTo>
                      <a:pt x="4894" y="0"/>
                      <a:pt x="0" y="4678"/>
                      <a:pt x="0" y="10308"/>
                    </a:cubicBezTo>
                    <a:cubicBezTo>
                      <a:pt x="0" y="16893"/>
                      <a:pt x="4894" y="21600"/>
                      <a:pt x="10784" y="21600"/>
                    </a:cubicBezTo>
                    <a:cubicBezTo>
                      <a:pt x="16675" y="21600"/>
                      <a:pt x="21600" y="16893"/>
                      <a:pt x="21600" y="10308"/>
                    </a:cubicBezTo>
                    <a:cubicBezTo>
                      <a:pt x="21600" y="4678"/>
                      <a:pt x="16675" y="0"/>
                      <a:pt x="107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58" name="Google Shape;1018;p32"/>
              <p:cNvSpPr/>
              <p:nvPr/>
            </p:nvSpPr>
            <p:spPr>
              <a:xfrm>
                <a:off x="98929" y="31978"/>
                <a:ext cx="16739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784" y="0"/>
                    </a:moveTo>
                    <a:cubicBezTo>
                      <a:pt x="4894" y="0"/>
                      <a:pt x="0" y="4678"/>
                      <a:pt x="0" y="10308"/>
                    </a:cubicBezTo>
                    <a:cubicBezTo>
                      <a:pt x="0" y="16893"/>
                      <a:pt x="4894" y="21600"/>
                      <a:pt x="10784" y="21600"/>
                    </a:cubicBezTo>
                    <a:cubicBezTo>
                      <a:pt x="16706" y="21600"/>
                      <a:pt x="21600" y="16893"/>
                      <a:pt x="21600" y="10308"/>
                    </a:cubicBezTo>
                    <a:cubicBezTo>
                      <a:pt x="21600" y="4678"/>
                      <a:pt x="16706" y="0"/>
                      <a:pt x="107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59" name="Google Shape;1019;p32"/>
              <p:cNvSpPr/>
              <p:nvPr/>
            </p:nvSpPr>
            <p:spPr>
              <a:xfrm>
                <a:off x="130883" y="31978"/>
                <a:ext cx="116417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55" y="0"/>
                    </a:moveTo>
                    <a:cubicBezTo>
                      <a:pt x="708" y="0"/>
                      <a:pt x="0" y="4678"/>
                      <a:pt x="0" y="10308"/>
                    </a:cubicBezTo>
                    <a:cubicBezTo>
                      <a:pt x="143" y="16893"/>
                      <a:pt x="847" y="21600"/>
                      <a:pt x="1555" y="21600"/>
                    </a:cubicBezTo>
                    <a:lnTo>
                      <a:pt x="19906" y="21600"/>
                    </a:lnTo>
                    <a:cubicBezTo>
                      <a:pt x="20896" y="21600"/>
                      <a:pt x="21600" y="16893"/>
                      <a:pt x="21600" y="10308"/>
                    </a:cubicBezTo>
                    <a:cubicBezTo>
                      <a:pt x="21600" y="4678"/>
                      <a:pt x="20896" y="0"/>
                      <a:pt x="199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60" name="Google Shape;1020;p32"/>
              <p:cNvSpPr/>
              <p:nvPr/>
            </p:nvSpPr>
            <p:spPr>
              <a:xfrm>
                <a:off x="98929" y="149915"/>
                <a:ext cx="81441" cy="821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9" h="21600" fill="norm" stroke="1" extrusionOk="0">
                    <a:moveTo>
                      <a:pt x="10603" y="4202"/>
                    </a:moveTo>
                    <a:cubicBezTo>
                      <a:pt x="14203" y="4202"/>
                      <a:pt x="17200" y="7198"/>
                      <a:pt x="17200" y="10797"/>
                    </a:cubicBezTo>
                    <a:cubicBezTo>
                      <a:pt x="17200" y="14199"/>
                      <a:pt x="14400" y="17201"/>
                      <a:pt x="10603" y="17201"/>
                    </a:cubicBezTo>
                    <a:cubicBezTo>
                      <a:pt x="7200" y="17201"/>
                      <a:pt x="4203" y="14199"/>
                      <a:pt x="4203" y="10797"/>
                    </a:cubicBezTo>
                    <a:cubicBezTo>
                      <a:pt x="4203" y="7198"/>
                      <a:pt x="7200" y="4202"/>
                      <a:pt x="10603" y="4202"/>
                    </a:cubicBezTo>
                    <a:close/>
                    <a:moveTo>
                      <a:pt x="10603" y="0"/>
                    </a:moveTo>
                    <a:cubicBezTo>
                      <a:pt x="4603" y="0"/>
                      <a:pt x="0" y="4799"/>
                      <a:pt x="0" y="10797"/>
                    </a:cubicBezTo>
                    <a:cubicBezTo>
                      <a:pt x="0" y="16801"/>
                      <a:pt x="4603" y="21600"/>
                      <a:pt x="10603" y="21600"/>
                    </a:cubicBezTo>
                    <a:cubicBezTo>
                      <a:pt x="16603" y="21600"/>
                      <a:pt x="21403" y="16801"/>
                      <a:pt x="21403" y="10797"/>
                    </a:cubicBezTo>
                    <a:cubicBezTo>
                      <a:pt x="21600" y="4799"/>
                      <a:pt x="16603" y="0"/>
                      <a:pt x="106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</p:grpSp>
        <p:sp>
          <p:nvSpPr>
            <p:cNvPr id="562" name="文本框 54"/>
            <p:cNvSpPr txBox="1"/>
            <p:nvPr/>
          </p:nvSpPr>
          <p:spPr>
            <a:xfrm>
              <a:off x="273836" y="577441"/>
              <a:ext cx="2576745" cy="481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just">
                <a:lnSpc>
                  <a:spcPts val="1500"/>
                </a:lnSpc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负责平台服务功能开发，包括服务接口等。</a:t>
              </a:r>
            </a:p>
          </p:txBody>
        </p:sp>
        <p:sp>
          <p:nvSpPr>
            <p:cNvPr id="563" name="文本框 55"/>
            <p:cNvSpPr txBox="1"/>
            <p:nvPr/>
          </p:nvSpPr>
          <p:spPr>
            <a:xfrm>
              <a:off x="267193" y="177702"/>
              <a:ext cx="2130107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304086"/>
                  </a:solidFill>
                </a:defRPr>
              </a:lvl1pPr>
            </a:lstStyle>
            <a:p>
              <a:pPr/>
              <a:r>
                <a:t>Java开发工程师（2）</a:t>
              </a:r>
            </a:p>
          </p:txBody>
        </p:sp>
      </p:grpSp>
      <p:grpSp>
        <p:nvGrpSpPr>
          <p:cNvPr id="575" name="组合 62"/>
          <p:cNvGrpSpPr/>
          <p:nvPr/>
        </p:nvGrpSpPr>
        <p:grpSpPr>
          <a:xfrm>
            <a:off x="8463285" y="3988960"/>
            <a:ext cx="3050598" cy="1249932"/>
            <a:chOff x="0" y="0"/>
            <a:chExt cx="3050597" cy="1249930"/>
          </a:xfrm>
        </p:grpSpPr>
        <p:sp>
          <p:nvSpPr>
            <p:cNvPr id="565" name="矩形: 圆角 251"/>
            <p:cNvSpPr/>
            <p:nvPr/>
          </p:nvSpPr>
          <p:spPr>
            <a:xfrm>
              <a:off x="0" y="0"/>
              <a:ext cx="3050598" cy="1249931"/>
            </a:xfrm>
            <a:prstGeom prst="roundRect">
              <a:avLst>
                <a:gd name="adj" fmla="val 16667"/>
              </a:avLst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572" name="Google Shape;1014;p32"/>
            <p:cNvGrpSpPr/>
            <p:nvPr/>
          </p:nvGrpSpPr>
          <p:grpSpPr>
            <a:xfrm>
              <a:off x="2546776" y="179046"/>
              <a:ext cx="281549" cy="282296"/>
              <a:chOff x="0" y="24"/>
              <a:chExt cx="281547" cy="282295"/>
            </a:xfrm>
          </p:grpSpPr>
          <p:sp>
            <p:nvSpPr>
              <p:cNvPr id="566" name="Google Shape;1015;p32"/>
              <p:cNvSpPr/>
              <p:nvPr/>
            </p:nvSpPr>
            <p:spPr>
              <a:xfrm>
                <a:off x="0" y="24"/>
                <a:ext cx="281548" cy="282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9673" y="1222"/>
                    </a:moveTo>
                    <a:cubicBezTo>
                      <a:pt x="20023" y="1222"/>
                      <a:pt x="20316" y="1514"/>
                      <a:pt x="20316" y="1863"/>
                    </a:cubicBezTo>
                    <a:lnTo>
                      <a:pt x="20316" y="5006"/>
                    </a:lnTo>
                    <a:lnTo>
                      <a:pt x="1227" y="5006"/>
                    </a:lnTo>
                    <a:lnTo>
                      <a:pt x="1227" y="1863"/>
                    </a:lnTo>
                    <a:cubicBezTo>
                      <a:pt x="1227" y="1514"/>
                      <a:pt x="1518" y="1222"/>
                      <a:pt x="1868" y="1222"/>
                    </a:cubicBezTo>
                    <a:close/>
                    <a:moveTo>
                      <a:pt x="20258" y="6230"/>
                    </a:moveTo>
                    <a:lnTo>
                      <a:pt x="20258" y="17059"/>
                    </a:lnTo>
                    <a:cubicBezTo>
                      <a:pt x="20316" y="17525"/>
                      <a:pt x="20023" y="17758"/>
                      <a:pt x="19673" y="17758"/>
                    </a:cubicBezTo>
                    <a:lnTo>
                      <a:pt x="16521" y="17758"/>
                    </a:lnTo>
                    <a:lnTo>
                      <a:pt x="15880" y="17059"/>
                    </a:lnTo>
                    <a:cubicBezTo>
                      <a:pt x="15937" y="16943"/>
                      <a:pt x="16054" y="16710"/>
                      <a:pt x="16113" y="16477"/>
                    </a:cubicBezTo>
                    <a:lnTo>
                      <a:pt x="17047" y="16477"/>
                    </a:lnTo>
                    <a:cubicBezTo>
                      <a:pt x="17397" y="16477"/>
                      <a:pt x="17688" y="16185"/>
                      <a:pt x="17688" y="15836"/>
                    </a:cubicBezTo>
                    <a:lnTo>
                      <a:pt x="17688" y="13275"/>
                    </a:lnTo>
                    <a:cubicBezTo>
                      <a:pt x="17688" y="12925"/>
                      <a:pt x="17397" y="12633"/>
                      <a:pt x="17047" y="12633"/>
                    </a:cubicBezTo>
                    <a:lnTo>
                      <a:pt x="16113" y="12633"/>
                    </a:lnTo>
                    <a:cubicBezTo>
                      <a:pt x="16054" y="12400"/>
                      <a:pt x="15937" y="12284"/>
                      <a:pt x="15880" y="12051"/>
                    </a:cubicBezTo>
                    <a:lnTo>
                      <a:pt x="16521" y="11412"/>
                    </a:lnTo>
                    <a:cubicBezTo>
                      <a:pt x="16754" y="11179"/>
                      <a:pt x="16754" y="10713"/>
                      <a:pt x="16521" y="10538"/>
                    </a:cubicBezTo>
                    <a:lnTo>
                      <a:pt x="14713" y="8675"/>
                    </a:lnTo>
                    <a:cubicBezTo>
                      <a:pt x="14596" y="8588"/>
                      <a:pt x="14435" y="8544"/>
                      <a:pt x="14273" y="8544"/>
                    </a:cubicBezTo>
                    <a:cubicBezTo>
                      <a:pt x="14114" y="8544"/>
                      <a:pt x="13953" y="8588"/>
                      <a:pt x="13836" y="8675"/>
                    </a:cubicBezTo>
                    <a:lnTo>
                      <a:pt x="13193" y="9373"/>
                    </a:lnTo>
                    <a:cubicBezTo>
                      <a:pt x="13019" y="9314"/>
                      <a:pt x="12843" y="9198"/>
                      <a:pt x="12609" y="9140"/>
                    </a:cubicBezTo>
                    <a:lnTo>
                      <a:pt x="12609" y="8209"/>
                    </a:lnTo>
                    <a:cubicBezTo>
                      <a:pt x="12609" y="7801"/>
                      <a:pt x="12319" y="7510"/>
                      <a:pt x="11968" y="7510"/>
                    </a:cubicBezTo>
                    <a:lnTo>
                      <a:pt x="9400" y="7510"/>
                    </a:lnTo>
                    <a:cubicBezTo>
                      <a:pt x="9050" y="7510"/>
                      <a:pt x="8757" y="7801"/>
                      <a:pt x="8757" y="8209"/>
                    </a:cubicBezTo>
                    <a:lnTo>
                      <a:pt x="8757" y="9140"/>
                    </a:lnTo>
                    <a:cubicBezTo>
                      <a:pt x="8524" y="9198"/>
                      <a:pt x="8349" y="9257"/>
                      <a:pt x="8173" y="9373"/>
                    </a:cubicBezTo>
                    <a:lnTo>
                      <a:pt x="7473" y="8675"/>
                    </a:lnTo>
                    <a:cubicBezTo>
                      <a:pt x="7386" y="8588"/>
                      <a:pt x="7225" y="8544"/>
                      <a:pt x="7056" y="8544"/>
                    </a:cubicBezTo>
                    <a:cubicBezTo>
                      <a:pt x="6889" y="8544"/>
                      <a:pt x="6713" y="8588"/>
                      <a:pt x="6597" y="8675"/>
                    </a:cubicBezTo>
                    <a:lnTo>
                      <a:pt x="4788" y="10538"/>
                    </a:lnTo>
                    <a:cubicBezTo>
                      <a:pt x="4555" y="10770"/>
                      <a:pt x="4555" y="11179"/>
                      <a:pt x="4788" y="11412"/>
                    </a:cubicBezTo>
                    <a:lnTo>
                      <a:pt x="5429" y="12051"/>
                    </a:lnTo>
                    <a:cubicBezTo>
                      <a:pt x="5372" y="12168"/>
                      <a:pt x="5312" y="12400"/>
                      <a:pt x="5255" y="12633"/>
                    </a:cubicBezTo>
                    <a:lnTo>
                      <a:pt x="4262" y="12633"/>
                    </a:lnTo>
                    <a:cubicBezTo>
                      <a:pt x="3912" y="12633"/>
                      <a:pt x="3621" y="12925"/>
                      <a:pt x="3621" y="13275"/>
                    </a:cubicBezTo>
                    <a:lnTo>
                      <a:pt x="3621" y="15836"/>
                    </a:lnTo>
                    <a:cubicBezTo>
                      <a:pt x="3621" y="16185"/>
                      <a:pt x="3912" y="16477"/>
                      <a:pt x="4262" y="16477"/>
                    </a:cubicBezTo>
                    <a:lnTo>
                      <a:pt x="5255" y="16477"/>
                    </a:lnTo>
                    <a:cubicBezTo>
                      <a:pt x="5312" y="16710"/>
                      <a:pt x="5372" y="16884"/>
                      <a:pt x="5429" y="17059"/>
                    </a:cubicBezTo>
                    <a:lnTo>
                      <a:pt x="4788" y="17758"/>
                    </a:lnTo>
                    <a:lnTo>
                      <a:pt x="1810" y="17758"/>
                    </a:lnTo>
                    <a:cubicBezTo>
                      <a:pt x="1460" y="17758"/>
                      <a:pt x="1167" y="17466"/>
                      <a:pt x="1167" y="17059"/>
                    </a:cubicBezTo>
                    <a:lnTo>
                      <a:pt x="1167" y="6230"/>
                    </a:lnTo>
                    <a:close/>
                    <a:moveTo>
                      <a:pt x="11325" y="8732"/>
                    </a:moveTo>
                    <a:lnTo>
                      <a:pt x="11325" y="9490"/>
                    </a:lnTo>
                    <a:cubicBezTo>
                      <a:pt x="11325" y="9782"/>
                      <a:pt x="11501" y="10015"/>
                      <a:pt x="11792" y="10072"/>
                    </a:cubicBezTo>
                    <a:cubicBezTo>
                      <a:pt x="12142" y="10188"/>
                      <a:pt x="12609" y="10364"/>
                      <a:pt x="12960" y="10597"/>
                    </a:cubicBezTo>
                    <a:cubicBezTo>
                      <a:pt x="13047" y="10660"/>
                      <a:pt x="13149" y="10685"/>
                      <a:pt x="13254" y="10685"/>
                    </a:cubicBezTo>
                    <a:cubicBezTo>
                      <a:pt x="13436" y="10685"/>
                      <a:pt x="13630" y="10611"/>
                      <a:pt x="13777" y="10538"/>
                    </a:cubicBezTo>
                    <a:lnTo>
                      <a:pt x="14362" y="9955"/>
                    </a:lnTo>
                    <a:lnTo>
                      <a:pt x="15237" y="10830"/>
                    </a:lnTo>
                    <a:lnTo>
                      <a:pt x="14653" y="11412"/>
                    </a:lnTo>
                    <a:cubicBezTo>
                      <a:pt x="14420" y="11645"/>
                      <a:pt x="14420" y="11935"/>
                      <a:pt x="14596" y="12227"/>
                    </a:cubicBezTo>
                    <a:cubicBezTo>
                      <a:pt x="14770" y="12576"/>
                      <a:pt x="14946" y="12925"/>
                      <a:pt x="15063" y="13391"/>
                    </a:cubicBezTo>
                    <a:cubicBezTo>
                      <a:pt x="15179" y="13681"/>
                      <a:pt x="15354" y="13857"/>
                      <a:pt x="15646" y="13857"/>
                    </a:cubicBezTo>
                    <a:lnTo>
                      <a:pt x="16464" y="13857"/>
                    </a:lnTo>
                    <a:lnTo>
                      <a:pt x="16464" y="15137"/>
                    </a:lnTo>
                    <a:lnTo>
                      <a:pt x="15646" y="15137"/>
                    </a:lnTo>
                    <a:cubicBezTo>
                      <a:pt x="15354" y="15137"/>
                      <a:pt x="15179" y="15311"/>
                      <a:pt x="15063" y="15603"/>
                    </a:cubicBezTo>
                    <a:cubicBezTo>
                      <a:pt x="15003" y="16011"/>
                      <a:pt x="14770" y="16418"/>
                      <a:pt x="14596" y="16767"/>
                    </a:cubicBezTo>
                    <a:cubicBezTo>
                      <a:pt x="14420" y="17000"/>
                      <a:pt x="14479" y="17349"/>
                      <a:pt x="14653" y="17582"/>
                    </a:cubicBezTo>
                    <a:lnTo>
                      <a:pt x="15237" y="18164"/>
                    </a:lnTo>
                    <a:lnTo>
                      <a:pt x="14362" y="19039"/>
                    </a:lnTo>
                    <a:lnTo>
                      <a:pt x="13777" y="18456"/>
                    </a:lnTo>
                    <a:cubicBezTo>
                      <a:pt x="13653" y="18331"/>
                      <a:pt x="13510" y="18274"/>
                      <a:pt x="13362" y="18274"/>
                    </a:cubicBezTo>
                    <a:cubicBezTo>
                      <a:pt x="13232" y="18274"/>
                      <a:pt x="13097" y="18316"/>
                      <a:pt x="12960" y="18397"/>
                    </a:cubicBezTo>
                    <a:cubicBezTo>
                      <a:pt x="12609" y="18630"/>
                      <a:pt x="12259" y="18747"/>
                      <a:pt x="11792" y="18863"/>
                    </a:cubicBezTo>
                    <a:cubicBezTo>
                      <a:pt x="11501" y="18979"/>
                      <a:pt x="11325" y="19155"/>
                      <a:pt x="11325" y="19504"/>
                    </a:cubicBezTo>
                    <a:lnTo>
                      <a:pt x="11325" y="20260"/>
                    </a:lnTo>
                    <a:lnTo>
                      <a:pt x="10041" y="20260"/>
                    </a:lnTo>
                    <a:lnTo>
                      <a:pt x="10041" y="19504"/>
                    </a:lnTo>
                    <a:cubicBezTo>
                      <a:pt x="10041" y="19155"/>
                      <a:pt x="9867" y="18979"/>
                      <a:pt x="9574" y="18863"/>
                    </a:cubicBezTo>
                    <a:cubicBezTo>
                      <a:pt x="9167" y="18806"/>
                      <a:pt x="8757" y="18573"/>
                      <a:pt x="8407" y="18397"/>
                    </a:cubicBezTo>
                    <a:cubicBezTo>
                      <a:pt x="8322" y="18333"/>
                      <a:pt x="8220" y="18309"/>
                      <a:pt x="8114" y="18309"/>
                    </a:cubicBezTo>
                    <a:cubicBezTo>
                      <a:pt x="7933" y="18309"/>
                      <a:pt x="7738" y="18383"/>
                      <a:pt x="7590" y="18456"/>
                    </a:cubicBezTo>
                    <a:lnTo>
                      <a:pt x="7006" y="19039"/>
                    </a:lnTo>
                    <a:lnTo>
                      <a:pt x="6130" y="18164"/>
                    </a:lnTo>
                    <a:lnTo>
                      <a:pt x="6713" y="17582"/>
                    </a:lnTo>
                    <a:cubicBezTo>
                      <a:pt x="6947" y="17349"/>
                      <a:pt x="6947" y="17059"/>
                      <a:pt x="6773" y="16767"/>
                    </a:cubicBezTo>
                    <a:cubicBezTo>
                      <a:pt x="6539" y="16418"/>
                      <a:pt x="6422" y="16069"/>
                      <a:pt x="6246" y="15603"/>
                    </a:cubicBezTo>
                    <a:cubicBezTo>
                      <a:pt x="6189" y="15311"/>
                      <a:pt x="5955" y="15137"/>
                      <a:pt x="5663" y="15137"/>
                    </a:cubicBezTo>
                    <a:lnTo>
                      <a:pt x="4905" y="15137"/>
                    </a:lnTo>
                    <a:lnTo>
                      <a:pt x="4905" y="13857"/>
                    </a:lnTo>
                    <a:lnTo>
                      <a:pt x="5663" y="13857"/>
                    </a:lnTo>
                    <a:cubicBezTo>
                      <a:pt x="5955" y="13857"/>
                      <a:pt x="6189" y="13681"/>
                      <a:pt x="6246" y="13391"/>
                    </a:cubicBezTo>
                    <a:cubicBezTo>
                      <a:pt x="6363" y="12983"/>
                      <a:pt x="6539" y="12576"/>
                      <a:pt x="6773" y="12227"/>
                    </a:cubicBezTo>
                    <a:cubicBezTo>
                      <a:pt x="6947" y="11994"/>
                      <a:pt x="6830" y="11645"/>
                      <a:pt x="6713" y="11412"/>
                    </a:cubicBezTo>
                    <a:lnTo>
                      <a:pt x="6130" y="10830"/>
                    </a:lnTo>
                    <a:lnTo>
                      <a:pt x="7006" y="9955"/>
                    </a:lnTo>
                    <a:lnTo>
                      <a:pt x="7590" y="10538"/>
                    </a:lnTo>
                    <a:cubicBezTo>
                      <a:pt x="7714" y="10663"/>
                      <a:pt x="7857" y="10721"/>
                      <a:pt x="8007" y="10721"/>
                    </a:cubicBezTo>
                    <a:cubicBezTo>
                      <a:pt x="8136" y="10721"/>
                      <a:pt x="8272" y="10676"/>
                      <a:pt x="8407" y="10597"/>
                    </a:cubicBezTo>
                    <a:cubicBezTo>
                      <a:pt x="8757" y="10364"/>
                      <a:pt x="9107" y="10247"/>
                      <a:pt x="9574" y="10072"/>
                    </a:cubicBezTo>
                    <a:cubicBezTo>
                      <a:pt x="9867" y="10015"/>
                      <a:pt x="10041" y="9782"/>
                      <a:pt x="10041" y="9490"/>
                    </a:cubicBezTo>
                    <a:lnTo>
                      <a:pt x="10041" y="8732"/>
                    </a:lnTo>
                    <a:close/>
                    <a:moveTo>
                      <a:pt x="1868" y="0"/>
                    </a:moveTo>
                    <a:cubicBezTo>
                      <a:pt x="876" y="0"/>
                      <a:pt x="0" y="872"/>
                      <a:pt x="0" y="1863"/>
                    </a:cubicBezTo>
                    <a:lnTo>
                      <a:pt x="0" y="17176"/>
                    </a:lnTo>
                    <a:cubicBezTo>
                      <a:pt x="0" y="18164"/>
                      <a:pt x="876" y="19039"/>
                      <a:pt x="1868" y="19039"/>
                    </a:cubicBezTo>
                    <a:lnTo>
                      <a:pt x="5312" y="19039"/>
                    </a:lnTo>
                    <a:lnTo>
                      <a:pt x="6713" y="20436"/>
                    </a:lnTo>
                    <a:cubicBezTo>
                      <a:pt x="6802" y="20552"/>
                      <a:pt x="6962" y="20609"/>
                      <a:pt x="7130" y="20609"/>
                    </a:cubicBezTo>
                    <a:cubicBezTo>
                      <a:pt x="7297" y="20609"/>
                      <a:pt x="7473" y="20552"/>
                      <a:pt x="7590" y="20436"/>
                    </a:cubicBezTo>
                    <a:lnTo>
                      <a:pt x="8231" y="19794"/>
                    </a:lnTo>
                    <a:cubicBezTo>
                      <a:pt x="8349" y="19854"/>
                      <a:pt x="8583" y="19911"/>
                      <a:pt x="8816" y="19970"/>
                    </a:cubicBezTo>
                    <a:lnTo>
                      <a:pt x="8816" y="20959"/>
                    </a:lnTo>
                    <a:cubicBezTo>
                      <a:pt x="8816" y="21308"/>
                      <a:pt x="9107" y="21600"/>
                      <a:pt x="9458" y="21600"/>
                    </a:cubicBezTo>
                    <a:lnTo>
                      <a:pt x="12026" y="21600"/>
                    </a:lnTo>
                    <a:cubicBezTo>
                      <a:pt x="12376" y="21600"/>
                      <a:pt x="12669" y="21308"/>
                      <a:pt x="12669" y="20959"/>
                    </a:cubicBezTo>
                    <a:lnTo>
                      <a:pt x="12669" y="19970"/>
                    </a:lnTo>
                    <a:cubicBezTo>
                      <a:pt x="12902" y="19911"/>
                      <a:pt x="13019" y="19854"/>
                      <a:pt x="13252" y="19794"/>
                    </a:cubicBezTo>
                    <a:lnTo>
                      <a:pt x="13894" y="20436"/>
                    </a:lnTo>
                    <a:cubicBezTo>
                      <a:pt x="14010" y="20552"/>
                      <a:pt x="14186" y="20609"/>
                      <a:pt x="14355" y="20609"/>
                    </a:cubicBezTo>
                    <a:cubicBezTo>
                      <a:pt x="14522" y="20609"/>
                      <a:pt x="14683" y="20552"/>
                      <a:pt x="14770" y="20436"/>
                    </a:cubicBezTo>
                    <a:lnTo>
                      <a:pt x="16171" y="19039"/>
                    </a:lnTo>
                    <a:lnTo>
                      <a:pt x="19673" y="19039"/>
                    </a:lnTo>
                    <a:cubicBezTo>
                      <a:pt x="20725" y="19039"/>
                      <a:pt x="21600" y="18164"/>
                      <a:pt x="21600" y="17176"/>
                    </a:cubicBezTo>
                    <a:lnTo>
                      <a:pt x="21600" y="1863"/>
                    </a:lnTo>
                    <a:cubicBezTo>
                      <a:pt x="21600" y="872"/>
                      <a:pt x="20783" y="0"/>
                      <a:pt x="196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67" name="Google Shape;1016;p32"/>
              <p:cNvSpPr/>
              <p:nvPr/>
            </p:nvSpPr>
            <p:spPr>
              <a:xfrm>
                <a:off x="31978" y="31978"/>
                <a:ext cx="17487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23" y="0"/>
                    </a:moveTo>
                    <a:cubicBezTo>
                      <a:pt x="4684" y="0"/>
                      <a:pt x="0" y="4678"/>
                      <a:pt x="0" y="10308"/>
                    </a:cubicBezTo>
                    <a:cubicBezTo>
                      <a:pt x="0" y="15939"/>
                      <a:pt x="4684" y="21600"/>
                      <a:pt x="10323" y="21600"/>
                    </a:cubicBezTo>
                    <a:cubicBezTo>
                      <a:pt x="16916" y="21600"/>
                      <a:pt x="21600" y="15939"/>
                      <a:pt x="21600" y="10308"/>
                    </a:cubicBezTo>
                    <a:cubicBezTo>
                      <a:pt x="21600" y="4678"/>
                      <a:pt x="16916" y="0"/>
                      <a:pt x="103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68" name="Google Shape;1017;p32"/>
              <p:cNvSpPr/>
              <p:nvPr/>
            </p:nvSpPr>
            <p:spPr>
              <a:xfrm>
                <a:off x="65453" y="31978"/>
                <a:ext cx="16739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784" y="0"/>
                    </a:moveTo>
                    <a:cubicBezTo>
                      <a:pt x="4894" y="0"/>
                      <a:pt x="0" y="4678"/>
                      <a:pt x="0" y="10308"/>
                    </a:cubicBezTo>
                    <a:cubicBezTo>
                      <a:pt x="0" y="16893"/>
                      <a:pt x="4894" y="21600"/>
                      <a:pt x="10784" y="21600"/>
                    </a:cubicBezTo>
                    <a:cubicBezTo>
                      <a:pt x="16675" y="21600"/>
                      <a:pt x="21600" y="16893"/>
                      <a:pt x="21600" y="10308"/>
                    </a:cubicBezTo>
                    <a:cubicBezTo>
                      <a:pt x="21600" y="4678"/>
                      <a:pt x="16675" y="0"/>
                      <a:pt x="107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69" name="Google Shape;1018;p32"/>
              <p:cNvSpPr/>
              <p:nvPr/>
            </p:nvSpPr>
            <p:spPr>
              <a:xfrm>
                <a:off x="98929" y="31978"/>
                <a:ext cx="16739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784" y="0"/>
                    </a:moveTo>
                    <a:cubicBezTo>
                      <a:pt x="4894" y="0"/>
                      <a:pt x="0" y="4678"/>
                      <a:pt x="0" y="10308"/>
                    </a:cubicBezTo>
                    <a:cubicBezTo>
                      <a:pt x="0" y="16893"/>
                      <a:pt x="4894" y="21600"/>
                      <a:pt x="10784" y="21600"/>
                    </a:cubicBezTo>
                    <a:cubicBezTo>
                      <a:pt x="16706" y="21600"/>
                      <a:pt x="21600" y="16893"/>
                      <a:pt x="21600" y="10308"/>
                    </a:cubicBezTo>
                    <a:cubicBezTo>
                      <a:pt x="21600" y="4678"/>
                      <a:pt x="16706" y="0"/>
                      <a:pt x="107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70" name="Google Shape;1019;p32"/>
              <p:cNvSpPr/>
              <p:nvPr/>
            </p:nvSpPr>
            <p:spPr>
              <a:xfrm>
                <a:off x="130883" y="31978"/>
                <a:ext cx="116417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55" y="0"/>
                    </a:moveTo>
                    <a:cubicBezTo>
                      <a:pt x="708" y="0"/>
                      <a:pt x="0" y="4678"/>
                      <a:pt x="0" y="10308"/>
                    </a:cubicBezTo>
                    <a:cubicBezTo>
                      <a:pt x="143" y="16893"/>
                      <a:pt x="847" y="21600"/>
                      <a:pt x="1555" y="21600"/>
                    </a:cubicBezTo>
                    <a:lnTo>
                      <a:pt x="19906" y="21600"/>
                    </a:lnTo>
                    <a:cubicBezTo>
                      <a:pt x="20896" y="21600"/>
                      <a:pt x="21600" y="16893"/>
                      <a:pt x="21600" y="10308"/>
                    </a:cubicBezTo>
                    <a:cubicBezTo>
                      <a:pt x="21600" y="4678"/>
                      <a:pt x="20896" y="0"/>
                      <a:pt x="199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71" name="Google Shape;1020;p32"/>
              <p:cNvSpPr/>
              <p:nvPr/>
            </p:nvSpPr>
            <p:spPr>
              <a:xfrm>
                <a:off x="98929" y="149915"/>
                <a:ext cx="81441" cy="821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9" h="21600" fill="norm" stroke="1" extrusionOk="0">
                    <a:moveTo>
                      <a:pt x="10603" y="4202"/>
                    </a:moveTo>
                    <a:cubicBezTo>
                      <a:pt x="14203" y="4202"/>
                      <a:pt x="17200" y="7198"/>
                      <a:pt x="17200" y="10797"/>
                    </a:cubicBezTo>
                    <a:cubicBezTo>
                      <a:pt x="17200" y="14199"/>
                      <a:pt x="14400" y="17201"/>
                      <a:pt x="10603" y="17201"/>
                    </a:cubicBezTo>
                    <a:cubicBezTo>
                      <a:pt x="7200" y="17201"/>
                      <a:pt x="4203" y="14199"/>
                      <a:pt x="4203" y="10797"/>
                    </a:cubicBezTo>
                    <a:cubicBezTo>
                      <a:pt x="4203" y="7198"/>
                      <a:pt x="7200" y="4202"/>
                      <a:pt x="10603" y="4202"/>
                    </a:cubicBezTo>
                    <a:close/>
                    <a:moveTo>
                      <a:pt x="10603" y="0"/>
                    </a:moveTo>
                    <a:cubicBezTo>
                      <a:pt x="4603" y="0"/>
                      <a:pt x="0" y="4799"/>
                      <a:pt x="0" y="10797"/>
                    </a:cubicBezTo>
                    <a:cubicBezTo>
                      <a:pt x="0" y="16801"/>
                      <a:pt x="4603" y="21600"/>
                      <a:pt x="10603" y="21600"/>
                    </a:cubicBezTo>
                    <a:cubicBezTo>
                      <a:pt x="16603" y="21600"/>
                      <a:pt x="21403" y="16801"/>
                      <a:pt x="21403" y="10797"/>
                    </a:cubicBezTo>
                    <a:cubicBezTo>
                      <a:pt x="21600" y="4799"/>
                      <a:pt x="16603" y="0"/>
                      <a:pt x="106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</p:grpSp>
        <p:sp>
          <p:nvSpPr>
            <p:cNvPr id="573" name="文本框 65"/>
            <p:cNvSpPr txBox="1"/>
            <p:nvPr/>
          </p:nvSpPr>
          <p:spPr>
            <a:xfrm>
              <a:off x="257643" y="581290"/>
              <a:ext cx="2576745" cy="4818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lnSpc>
                  <a:spcPts val="1500"/>
                </a:lnSpc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负责产品功能、交互、性能、安全的测试验证，保障产品符合设计预期。</a:t>
              </a:r>
            </a:p>
          </p:txBody>
        </p:sp>
        <p:sp>
          <p:nvSpPr>
            <p:cNvPr id="574" name="文本框 66"/>
            <p:cNvSpPr txBox="1"/>
            <p:nvPr/>
          </p:nvSpPr>
          <p:spPr>
            <a:xfrm>
              <a:off x="257642" y="167534"/>
              <a:ext cx="1926715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304086"/>
                  </a:solidFill>
                </a:defRPr>
              </a:lvl1pPr>
            </a:lstStyle>
            <a:p>
              <a:pPr/>
              <a:r>
                <a:t>测试工程师（2）</a:t>
              </a:r>
            </a:p>
          </p:txBody>
        </p:sp>
      </p:grpSp>
      <p:sp>
        <p:nvSpPr>
          <p:cNvPr id="576" name="文本框 73"/>
          <p:cNvSpPr txBox="1"/>
          <p:nvPr/>
        </p:nvSpPr>
        <p:spPr>
          <a:xfrm>
            <a:off x="5230291" y="1619108"/>
            <a:ext cx="201549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marL="285750" indent="-285750">
              <a:buSzPct val="100000"/>
              <a:buChar char="■"/>
              <a:defRPr sz="1600">
                <a:solidFill>
                  <a:srgbClr val="595959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开发团队主要角色</a:t>
            </a:r>
          </a:p>
        </p:txBody>
      </p:sp>
      <p:grpSp>
        <p:nvGrpSpPr>
          <p:cNvPr id="579" name="组合 89"/>
          <p:cNvGrpSpPr/>
          <p:nvPr/>
        </p:nvGrpSpPr>
        <p:grpSpPr>
          <a:xfrm>
            <a:off x="812142" y="2627629"/>
            <a:ext cx="4334778" cy="573199"/>
            <a:chOff x="0" y="0"/>
            <a:chExt cx="4334776" cy="573197"/>
          </a:xfrm>
        </p:grpSpPr>
        <p:sp>
          <p:nvSpPr>
            <p:cNvPr id="577" name="文本框 4"/>
            <p:cNvSpPr/>
            <p:nvPr/>
          </p:nvSpPr>
          <p:spPr>
            <a:xfrm>
              <a:off x="0" y="573197"/>
              <a:ext cx="13485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200"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pPr>
              <a:r>
                <a:t> </a:t>
              </a:r>
              <a:r>
                <a:t>王建</a:t>
              </a:r>
            </a:p>
            <a:p>
              <a:pPr algn="ctr">
                <a:defRPr sz="1200"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pPr>
              <a:r>
                <a:t> </a:t>
              </a:r>
              <a:r>
                <a:rPr sz="1000">
                  <a:latin typeface="PingFang SC Regular"/>
                  <a:ea typeface="PingFang SC Regular"/>
                  <a:cs typeface="PingFang SC Regular"/>
                  <a:sym typeface="PingFang SC Regular"/>
                </a:rPr>
                <a:t>技术顾问</a:t>
              </a:r>
              <a:r>
                <a:rPr sz="1000"/>
                <a:t>·</a:t>
              </a:r>
              <a:r>
                <a:rPr sz="1000">
                  <a:latin typeface="PingFang SC Regular"/>
                  <a:ea typeface="PingFang SC Regular"/>
                  <a:cs typeface="PingFang SC Regular"/>
                  <a:sym typeface="PingFang SC Regular"/>
                </a:rPr>
                <a:t>总架构师</a:t>
              </a:r>
            </a:p>
          </p:txBody>
        </p:sp>
        <p:sp>
          <p:nvSpPr>
            <p:cNvPr id="578" name="文本框 75"/>
            <p:cNvSpPr/>
            <p:nvPr/>
          </p:nvSpPr>
          <p:spPr>
            <a:xfrm>
              <a:off x="1619094" y="0"/>
              <a:ext cx="2715683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lnSpc>
                  <a:spcPct val="150000"/>
                </a:lnSpc>
                <a:defRPr sz="1200">
                  <a:solidFill>
                    <a:srgbClr val="294681"/>
                  </a:solidFill>
                  <a:latin typeface="PingFang SC Semibold"/>
                  <a:ea typeface="PingFang SC Semibold"/>
                  <a:cs typeface="PingFang SC Semibold"/>
                  <a:sym typeface="PingFang SC Semibold"/>
                </a:defRPr>
              </a:pPr>
              <a:r>
                <a:t>主要职责</a:t>
              </a:r>
            </a:p>
            <a:p>
              <a:pPr marL="171450" indent="-171450">
                <a:lnSpc>
                  <a:spcPct val="150000"/>
                </a:lnSpc>
                <a:buSzPct val="100000"/>
                <a:buChar char="●"/>
                <a:defRPr sz="1200"/>
              </a:pPr>
              <a:r>
                <a:t>负责平台总体规划</a:t>
              </a:r>
            </a:p>
            <a:p>
              <a:pPr marL="171450" indent="-171450">
                <a:lnSpc>
                  <a:spcPct val="150000"/>
                </a:lnSpc>
                <a:buSzPct val="100000"/>
                <a:buChar char="●"/>
                <a:defRPr sz="1200"/>
              </a:pPr>
              <a:r>
                <a:t>负责平台总体技术方案设计</a:t>
              </a:r>
            </a:p>
            <a:p>
              <a:pPr marL="171450" indent="-171450">
                <a:lnSpc>
                  <a:spcPct val="150000"/>
                </a:lnSpc>
                <a:buSzPct val="100000"/>
                <a:buChar char="●"/>
                <a:defRPr sz="1200"/>
              </a:pPr>
              <a:r>
                <a:t>负责平台核心技术指导</a:t>
              </a:r>
            </a:p>
            <a:p>
              <a:pPr marL="171450" indent="-171450">
                <a:lnSpc>
                  <a:spcPct val="150000"/>
                </a:lnSpc>
                <a:buSzPct val="100000"/>
                <a:buChar char="●"/>
                <a:defRPr sz="1200"/>
              </a:pPr>
              <a:r>
                <a:t>负责技术管理</a:t>
              </a:r>
            </a:p>
          </p:txBody>
        </p:sp>
      </p:grpSp>
      <p:grpSp>
        <p:nvGrpSpPr>
          <p:cNvPr id="590" name="组合 76"/>
          <p:cNvGrpSpPr/>
          <p:nvPr/>
        </p:nvGrpSpPr>
        <p:grpSpPr>
          <a:xfrm>
            <a:off x="5109766" y="2254377"/>
            <a:ext cx="3050599" cy="1282823"/>
            <a:chOff x="0" y="0"/>
            <a:chExt cx="3050597" cy="1282822"/>
          </a:xfrm>
        </p:grpSpPr>
        <p:sp>
          <p:nvSpPr>
            <p:cNvPr id="580" name="矩形: 圆角 1"/>
            <p:cNvSpPr/>
            <p:nvPr/>
          </p:nvSpPr>
          <p:spPr>
            <a:xfrm>
              <a:off x="0" y="0"/>
              <a:ext cx="3050598" cy="1282823"/>
            </a:xfrm>
            <a:prstGeom prst="roundRect">
              <a:avLst>
                <a:gd name="adj" fmla="val 12798"/>
              </a:avLst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  <p:grpSp>
          <p:nvGrpSpPr>
            <p:cNvPr id="587" name="Google Shape;1014;p32"/>
            <p:cNvGrpSpPr/>
            <p:nvPr/>
          </p:nvGrpSpPr>
          <p:grpSpPr>
            <a:xfrm>
              <a:off x="2546776" y="179046"/>
              <a:ext cx="281549" cy="282297"/>
              <a:chOff x="0" y="24"/>
              <a:chExt cx="281547" cy="282295"/>
            </a:xfrm>
          </p:grpSpPr>
          <p:sp>
            <p:nvSpPr>
              <p:cNvPr id="581" name="Google Shape;1015;p32"/>
              <p:cNvSpPr/>
              <p:nvPr/>
            </p:nvSpPr>
            <p:spPr>
              <a:xfrm>
                <a:off x="0" y="24"/>
                <a:ext cx="281548" cy="28229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9673" y="1222"/>
                    </a:moveTo>
                    <a:cubicBezTo>
                      <a:pt x="20023" y="1222"/>
                      <a:pt x="20316" y="1514"/>
                      <a:pt x="20316" y="1863"/>
                    </a:cubicBezTo>
                    <a:lnTo>
                      <a:pt x="20316" y="5006"/>
                    </a:lnTo>
                    <a:lnTo>
                      <a:pt x="1227" y="5006"/>
                    </a:lnTo>
                    <a:lnTo>
                      <a:pt x="1227" y="1863"/>
                    </a:lnTo>
                    <a:cubicBezTo>
                      <a:pt x="1227" y="1514"/>
                      <a:pt x="1518" y="1222"/>
                      <a:pt x="1868" y="1222"/>
                    </a:cubicBezTo>
                    <a:close/>
                    <a:moveTo>
                      <a:pt x="20258" y="6230"/>
                    </a:moveTo>
                    <a:lnTo>
                      <a:pt x="20258" y="17059"/>
                    </a:lnTo>
                    <a:cubicBezTo>
                      <a:pt x="20316" y="17525"/>
                      <a:pt x="20023" y="17758"/>
                      <a:pt x="19673" y="17758"/>
                    </a:cubicBezTo>
                    <a:lnTo>
                      <a:pt x="16521" y="17758"/>
                    </a:lnTo>
                    <a:lnTo>
                      <a:pt x="15880" y="17059"/>
                    </a:lnTo>
                    <a:cubicBezTo>
                      <a:pt x="15937" y="16943"/>
                      <a:pt x="16054" y="16710"/>
                      <a:pt x="16113" y="16477"/>
                    </a:cubicBezTo>
                    <a:lnTo>
                      <a:pt x="17047" y="16477"/>
                    </a:lnTo>
                    <a:cubicBezTo>
                      <a:pt x="17397" y="16477"/>
                      <a:pt x="17688" y="16185"/>
                      <a:pt x="17688" y="15836"/>
                    </a:cubicBezTo>
                    <a:lnTo>
                      <a:pt x="17688" y="13275"/>
                    </a:lnTo>
                    <a:cubicBezTo>
                      <a:pt x="17688" y="12925"/>
                      <a:pt x="17397" y="12633"/>
                      <a:pt x="17047" y="12633"/>
                    </a:cubicBezTo>
                    <a:lnTo>
                      <a:pt x="16113" y="12633"/>
                    </a:lnTo>
                    <a:cubicBezTo>
                      <a:pt x="16054" y="12400"/>
                      <a:pt x="15937" y="12284"/>
                      <a:pt x="15880" y="12051"/>
                    </a:cubicBezTo>
                    <a:lnTo>
                      <a:pt x="16521" y="11412"/>
                    </a:lnTo>
                    <a:cubicBezTo>
                      <a:pt x="16754" y="11179"/>
                      <a:pt x="16754" y="10713"/>
                      <a:pt x="16521" y="10538"/>
                    </a:cubicBezTo>
                    <a:lnTo>
                      <a:pt x="14713" y="8675"/>
                    </a:lnTo>
                    <a:cubicBezTo>
                      <a:pt x="14596" y="8588"/>
                      <a:pt x="14435" y="8544"/>
                      <a:pt x="14273" y="8544"/>
                    </a:cubicBezTo>
                    <a:cubicBezTo>
                      <a:pt x="14114" y="8544"/>
                      <a:pt x="13953" y="8588"/>
                      <a:pt x="13836" y="8675"/>
                    </a:cubicBezTo>
                    <a:lnTo>
                      <a:pt x="13193" y="9373"/>
                    </a:lnTo>
                    <a:cubicBezTo>
                      <a:pt x="13019" y="9314"/>
                      <a:pt x="12843" y="9198"/>
                      <a:pt x="12609" y="9140"/>
                    </a:cubicBezTo>
                    <a:lnTo>
                      <a:pt x="12609" y="8209"/>
                    </a:lnTo>
                    <a:cubicBezTo>
                      <a:pt x="12609" y="7801"/>
                      <a:pt x="12319" y="7510"/>
                      <a:pt x="11968" y="7510"/>
                    </a:cubicBezTo>
                    <a:lnTo>
                      <a:pt x="9400" y="7510"/>
                    </a:lnTo>
                    <a:cubicBezTo>
                      <a:pt x="9050" y="7510"/>
                      <a:pt x="8757" y="7801"/>
                      <a:pt x="8757" y="8209"/>
                    </a:cubicBezTo>
                    <a:lnTo>
                      <a:pt x="8757" y="9140"/>
                    </a:lnTo>
                    <a:cubicBezTo>
                      <a:pt x="8524" y="9198"/>
                      <a:pt x="8349" y="9257"/>
                      <a:pt x="8173" y="9373"/>
                    </a:cubicBezTo>
                    <a:lnTo>
                      <a:pt x="7473" y="8675"/>
                    </a:lnTo>
                    <a:cubicBezTo>
                      <a:pt x="7386" y="8588"/>
                      <a:pt x="7225" y="8544"/>
                      <a:pt x="7056" y="8544"/>
                    </a:cubicBezTo>
                    <a:cubicBezTo>
                      <a:pt x="6889" y="8544"/>
                      <a:pt x="6713" y="8588"/>
                      <a:pt x="6597" y="8675"/>
                    </a:cubicBezTo>
                    <a:lnTo>
                      <a:pt x="4788" y="10538"/>
                    </a:lnTo>
                    <a:cubicBezTo>
                      <a:pt x="4555" y="10770"/>
                      <a:pt x="4555" y="11179"/>
                      <a:pt x="4788" y="11412"/>
                    </a:cubicBezTo>
                    <a:lnTo>
                      <a:pt x="5429" y="12051"/>
                    </a:lnTo>
                    <a:cubicBezTo>
                      <a:pt x="5372" y="12168"/>
                      <a:pt x="5312" y="12400"/>
                      <a:pt x="5255" y="12633"/>
                    </a:cubicBezTo>
                    <a:lnTo>
                      <a:pt x="4262" y="12633"/>
                    </a:lnTo>
                    <a:cubicBezTo>
                      <a:pt x="3912" y="12633"/>
                      <a:pt x="3621" y="12925"/>
                      <a:pt x="3621" y="13275"/>
                    </a:cubicBezTo>
                    <a:lnTo>
                      <a:pt x="3621" y="15836"/>
                    </a:lnTo>
                    <a:cubicBezTo>
                      <a:pt x="3621" y="16185"/>
                      <a:pt x="3912" y="16477"/>
                      <a:pt x="4262" y="16477"/>
                    </a:cubicBezTo>
                    <a:lnTo>
                      <a:pt x="5255" y="16477"/>
                    </a:lnTo>
                    <a:cubicBezTo>
                      <a:pt x="5312" y="16710"/>
                      <a:pt x="5372" y="16884"/>
                      <a:pt x="5429" y="17059"/>
                    </a:cubicBezTo>
                    <a:lnTo>
                      <a:pt x="4788" y="17758"/>
                    </a:lnTo>
                    <a:lnTo>
                      <a:pt x="1810" y="17758"/>
                    </a:lnTo>
                    <a:cubicBezTo>
                      <a:pt x="1460" y="17758"/>
                      <a:pt x="1167" y="17466"/>
                      <a:pt x="1167" y="17059"/>
                    </a:cubicBezTo>
                    <a:lnTo>
                      <a:pt x="1167" y="6230"/>
                    </a:lnTo>
                    <a:close/>
                    <a:moveTo>
                      <a:pt x="11325" y="8732"/>
                    </a:moveTo>
                    <a:lnTo>
                      <a:pt x="11325" y="9490"/>
                    </a:lnTo>
                    <a:cubicBezTo>
                      <a:pt x="11325" y="9782"/>
                      <a:pt x="11501" y="10015"/>
                      <a:pt x="11792" y="10072"/>
                    </a:cubicBezTo>
                    <a:cubicBezTo>
                      <a:pt x="12142" y="10188"/>
                      <a:pt x="12609" y="10364"/>
                      <a:pt x="12960" y="10597"/>
                    </a:cubicBezTo>
                    <a:cubicBezTo>
                      <a:pt x="13047" y="10660"/>
                      <a:pt x="13149" y="10685"/>
                      <a:pt x="13254" y="10685"/>
                    </a:cubicBezTo>
                    <a:cubicBezTo>
                      <a:pt x="13436" y="10685"/>
                      <a:pt x="13630" y="10611"/>
                      <a:pt x="13777" y="10538"/>
                    </a:cubicBezTo>
                    <a:lnTo>
                      <a:pt x="14362" y="9955"/>
                    </a:lnTo>
                    <a:lnTo>
                      <a:pt x="15237" y="10830"/>
                    </a:lnTo>
                    <a:lnTo>
                      <a:pt x="14653" y="11412"/>
                    </a:lnTo>
                    <a:cubicBezTo>
                      <a:pt x="14420" y="11645"/>
                      <a:pt x="14420" y="11935"/>
                      <a:pt x="14596" y="12227"/>
                    </a:cubicBezTo>
                    <a:cubicBezTo>
                      <a:pt x="14770" y="12576"/>
                      <a:pt x="14946" y="12925"/>
                      <a:pt x="15063" y="13391"/>
                    </a:cubicBezTo>
                    <a:cubicBezTo>
                      <a:pt x="15179" y="13681"/>
                      <a:pt x="15354" y="13857"/>
                      <a:pt x="15646" y="13857"/>
                    </a:cubicBezTo>
                    <a:lnTo>
                      <a:pt x="16464" y="13857"/>
                    </a:lnTo>
                    <a:lnTo>
                      <a:pt x="16464" y="15137"/>
                    </a:lnTo>
                    <a:lnTo>
                      <a:pt x="15646" y="15137"/>
                    </a:lnTo>
                    <a:cubicBezTo>
                      <a:pt x="15354" y="15137"/>
                      <a:pt x="15179" y="15311"/>
                      <a:pt x="15063" y="15603"/>
                    </a:cubicBezTo>
                    <a:cubicBezTo>
                      <a:pt x="15003" y="16011"/>
                      <a:pt x="14770" y="16418"/>
                      <a:pt x="14596" y="16767"/>
                    </a:cubicBezTo>
                    <a:cubicBezTo>
                      <a:pt x="14420" y="17000"/>
                      <a:pt x="14479" y="17349"/>
                      <a:pt x="14653" y="17582"/>
                    </a:cubicBezTo>
                    <a:lnTo>
                      <a:pt x="15237" y="18164"/>
                    </a:lnTo>
                    <a:lnTo>
                      <a:pt x="14362" y="19039"/>
                    </a:lnTo>
                    <a:lnTo>
                      <a:pt x="13777" y="18456"/>
                    </a:lnTo>
                    <a:cubicBezTo>
                      <a:pt x="13653" y="18331"/>
                      <a:pt x="13510" y="18274"/>
                      <a:pt x="13362" y="18274"/>
                    </a:cubicBezTo>
                    <a:cubicBezTo>
                      <a:pt x="13232" y="18274"/>
                      <a:pt x="13097" y="18316"/>
                      <a:pt x="12960" y="18397"/>
                    </a:cubicBezTo>
                    <a:cubicBezTo>
                      <a:pt x="12609" y="18630"/>
                      <a:pt x="12259" y="18747"/>
                      <a:pt x="11792" y="18863"/>
                    </a:cubicBezTo>
                    <a:cubicBezTo>
                      <a:pt x="11501" y="18979"/>
                      <a:pt x="11325" y="19155"/>
                      <a:pt x="11325" y="19504"/>
                    </a:cubicBezTo>
                    <a:lnTo>
                      <a:pt x="11325" y="20260"/>
                    </a:lnTo>
                    <a:lnTo>
                      <a:pt x="10041" y="20260"/>
                    </a:lnTo>
                    <a:lnTo>
                      <a:pt x="10041" y="19504"/>
                    </a:lnTo>
                    <a:cubicBezTo>
                      <a:pt x="10041" y="19155"/>
                      <a:pt x="9867" y="18979"/>
                      <a:pt x="9574" y="18863"/>
                    </a:cubicBezTo>
                    <a:cubicBezTo>
                      <a:pt x="9167" y="18806"/>
                      <a:pt x="8757" y="18573"/>
                      <a:pt x="8407" y="18397"/>
                    </a:cubicBezTo>
                    <a:cubicBezTo>
                      <a:pt x="8322" y="18333"/>
                      <a:pt x="8220" y="18309"/>
                      <a:pt x="8114" y="18309"/>
                    </a:cubicBezTo>
                    <a:cubicBezTo>
                      <a:pt x="7933" y="18309"/>
                      <a:pt x="7738" y="18383"/>
                      <a:pt x="7590" y="18456"/>
                    </a:cubicBezTo>
                    <a:lnTo>
                      <a:pt x="7006" y="19039"/>
                    </a:lnTo>
                    <a:lnTo>
                      <a:pt x="6130" y="18164"/>
                    </a:lnTo>
                    <a:lnTo>
                      <a:pt x="6713" y="17582"/>
                    </a:lnTo>
                    <a:cubicBezTo>
                      <a:pt x="6947" y="17349"/>
                      <a:pt x="6947" y="17059"/>
                      <a:pt x="6773" y="16767"/>
                    </a:cubicBezTo>
                    <a:cubicBezTo>
                      <a:pt x="6539" y="16418"/>
                      <a:pt x="6422" y="16069"/>
                      <a:pt x="6246" y="15603"/>
                    </a:cubicBezTo>
                    <a:cubicBezTo>
                      <a:pt x="6189" y="15311"/>
                      <a:pt x="5955" y="15137"/>
                      <a:pt x="5663" y="15137"/>
                    </a:cubicBezTo>
                    <a:lnTo>
                      <a:pt x="4905" y="15137"/>
                    </a:lnTo>
                    <a:lnTo>
                      <a:pt x="4905" y="13857"/>
                    </a:lnTo>
                    <a:lnTo>
                      <a:pt x="5663" y="13857"/>
                    </a:lnTo>
                    <a:cubicBezTo>
                      <a:pt x="5955" y="13857"/>
                      <a:pt x="6189" y="13681"/>
                      <a:pt x="6246" y="13391"/>
                    </a:cubicBezTo>
                    <a:cubicBezTo>
                      <a:pt x="6363" y="12983"/>
                      <a:pt x="6539" y="12576"/>
                      <a:pt x="6773" y="12227"/>
                    </a:cubicBezTo>
                    <a:cubicBezTo>
                      <a:pt x="6947" y="11994"/>
                      <a:pt x="6830" y="11645"/>
                      <a:pt x="6713" y="11412"/>
                    </a:cubicBezTo>
                    <a:lnTo>
                      <a:pt x="6130" y="10830"/>
                    </a:lnTo>
                    <a:lnTo>
                      <a:pt x="7006" y="9955"/>
                    </a:lnTo>
                    <a:lnTo>
                      <a:pt x="7590" y="10538"/>
                    </a:lnTo>
                    <a:cubicBezTo>
                      <a:pt x="7714" y="10663"/>
                      <a:pt x="7857" y="10721"/>
                      <a:pt x="8007" y="10721"/>
                    </a:cubicBezTo>
                    <a:cubicBezTo>
                      <a:pt x="8136" y="10721"/>
                      <a:pt x="8272" y="10676"/>
                      <a:pt x="8407" y="10597"/>
                    </a:cubicBezTo>
                    <a:cubicBezTo>
                      <a:pt x="8757" y="10364"/>
                      <a:pt x="9107" y="10247"/>
                      <a:pt x="9574" y="10072"/>
                    </a:cubicBezTo>
                    <a:cubicBezTo>
                      <a:pt x="9867" y="10015"/>
                      <a:pt x="10041" y="9782"/>
                      <a:pt x="10041" y="9490"/>
                    </a:cubicBezTo>
                    <a:lnTo>
                      <a:pt x="10041" y="8732"/>
                    </a:lnTo>
                    <a:close/>
                    <a:moveTo>
                      <a:pt x="1868" y="0"/>
                    </a:moveTo>
                    <a:cubicBezTo>
                      <a:pt x="876" y="0"/>
                      <a:pt x="0" y="872"/>
                      <a:pt x="0" y="1863"/>
                    </a:cubicBezTo>
                    <a:lnTo>
                      <a:pt x="0" y="17176"/>
                    </a:lnTo>
                    <a:cubicBezTo>
                      <a:pt x="0" y="18164"/>
                      <a:pt x="876" y="19039"/>
                      <a:pt x="1868" y="19039"/>
                    </a:cubicBezTo>
                    <a:lnTo>
                      <a:pt x="5312" y="19039"/>
                    </a:lnTo>
                    <a:lnTo>
                      <a:pt x="6713" y="20436"/>
                    </a:lnTo>
                    <a:cubicBezTo>
                      <a:pt x="6802" y="20552"/>
                      <a:pt x="6962" y="20609"/>
                      <a:pt x="7130" y="20609"/>
                    </a:cubicBezTo>
                    <a:cubicBezTo>
                      <a:pt x="7297" y="20609"/>
                      <a:pt x="7473" y="20552"/>
                      <a:pt x="7590" y="20436"/>
                    </a:cubicBezTo>
                    <a:lnTo>
                      <a:pt x="8231" y="19794"/>
                    </a:lnTo>
                    <a:cubicBezTo>
                      <a:pt x="8349" y="19854"/>
                      <a:pt x="8583" y="19911"/>
                      <a:pt x="8816" y="19970"/>
                    </a:cubicBezTo>
                    <a:lnTo>
                      <a:pt x="8816" y="20959"/>
                    </a:lnTo>
                    <a:cubicBezTo>
                      <a:pt x="8816" y="21308"/>
                      <a:pt x="9107" y="21600"/>
                      <a:pt x="9458" y="21600"/>
                    </a:cubicBezTo>
                    <a:lnTo>
                      <a:pt x="12026" y="21600"/>
                    </a:lnTo>
                    <a:cubicBezTo>
                      <a:pt x="12376" y="21600"/>
                      <a:pt x="12669" y="21308"/>
                      <a:pt x="12669" y="20959"/>
                    </a:cubicBezTo>
                    <a:lnTo>
                      <a:pt x="12669" y="19970"/>
                    </a:lnTo>
                    <a:cubicBezTo>
                      <a:pt x="12902" y="19911"/>
                      <a:pt x="13019" y="19854"/>
                      <a:pt x="13252" y="19794"/>
                    </a:cubicBezTo>
                    <a:lnTo>
                      <a:pt x="13894" y="20436"/>
                    </a:lnTo>
                    <a:cubicBezTo>
                      <a:pt x="14010" y="20552"/>
                      <a:pt x="14186" y="20609"/>
                      <a:pt x="14355" y="20609"/>
                    </a:cubicBezTo>
                    <a:cubicBezTo>
                      <a:pt x="14522" y="20609"/>
                      <a:pt x="14683" y="20552"/>
                      <a:pt x="14770" y="20436"/>
                    </a:cubicBezTo>
                    <a:lnTo>
                      <a:pt x="16171" y="19039"/>
                    </a:lnTo>
                    <a:lnTo>
                      <a:pt x="19673" y="19039"/>
                    </a:lnTo>
                    <a:cubicBezTo>
                      <a:pt x="20725" y="19039"/>
                      <a:pt x="21600" y="18164"/>
                      <a:pt x="21600" y="17176"/>
                    </a:cubicBezTo>
                    <a:lnTo>
                      <a:pt x="21600" y="1863"/>
                    </a:lnTo>
                    <a:cubicBezTo>
                      <a:pt x="21600" y="872"/>
                      <a:pt x="20783" y="0"/>
                      <a:pt x="1967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82" name="Google Shape;1016;p32"/>
              <p:cNvSpPr/>
              <p:nvPr/>
            </p:nvSpPr>
            <p:spPr>
              <a:xfrm>
                <a:off x="31978" y="31978"/>
                <a:ext cx="17487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323" y="0"/>
                    </a:moveTo>
                    <a:cubicBezTo>
                      <a:pt x="4684" y="0"/>
                      <a:pt x="0" y="4678"/>
                      <a:pt x="0" y="10308"/>
                    </a:cubicBezTo>
                    <a:cubicBezTo>
                      <a:pt x="0" y="15939"/>
                      <a:pt x="4684" y="21600"/>
                      <a:pt x="10323" y="21600"/>
                    </a:cubicBezTo>
                    <a:cubicBezTo>
                      <a:pt x="16916" y="21600"/>
                      <a:pt x="21600" y="15939"/>
                      <a:pt x="21600" y="10308"/>
                    </a:cubicBezTo>
                    <a:cubicBezTo>
                      <a:pt x="21600" y="4678"/>
                      <a:pt x="16916" y="0"/>
                      <a:pt x="103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83" name="Google Shape;1017;p32"/>
              <p:cNvSpPr/>
              <p:nvPr/>
            </p:nvSpPr>
            <p:spPr>
              <a:xfrm>
                <a:off x="65453" y="31978"/>
                <a:ext cx="16739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784" y="0"/>
                    </a:moveTo>
                    <a:cubicBezTo>
                      <a:pt x="4894" y="0"/>
                      <a:pt x="0" y="4678"/>
                      <a:pt x="0" y="10308"/>
                    </a:cubicBezTo>
                    <a:cubicBezTo>
                      <a:pt x="0" y="16893"/>
                      <a:pt x="4894" y="21600"/>
                      <a:pt x="10784" y="21600"/>
                    </a:cubicBezTo>
                    <a:cubicBezTo>
                      <a:pt x="16675" y="21600"/>
                      <a:pt x="21600" y="16893"/>
                      <a:pt x="21600" y="10308"/>
                    </a:cubicBezTo>
                    <a:cubicBezTo>
                      <a:pt x="21600" y="4678"/>
                      <a:pt x="16675" y="0"/>
                      <a:pt x="107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84" name="Google Shape;1018;p32"/>
              <p:cNvSpPr/>
              <p:nvPr/>
            </p:nvSpPr>
            <p:spPr>
              <a:xfrm>
                <a:off x="98929" y="31978"/>
                <a:ext cx="16739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784" y="0"/>
                    </a:moveTo>
                    <a:cubicBezTo>
                      <a:pt x="4894" y="0"/>
                      <a:pt x="0" y="4678"/>
                      <a:pt x="0" y="10308"/>
                    </a:cubicBezTo>
                    <a:cubicBezTo>
                      <a:pt x="0" y="16893"/>
                      <a:pt x="4894" y="21600"/>
                      <a:pt x="10784" y="21600"/>
                    </a:cubicBezTo>
                    <a:cubicBezTo>
                      <a:pt x="16706" y="21600"/>
                      <a:pt x="21600" y="16893"/>
                      <a:pt x="21600" y="10308"/>
                    </a:cubicBezTo>
                    <a:cubicBezTo>
                      <a:pt x="21600" y="4678"/>
                      <a:pt x="16706" y="0"/>
                      <a:pt x="1078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85" name="Google Shape;1019;p32"/>
              <p:cNvSpPr/>
              <p:nvPr/>
            </p:nvSpPr>
            <p:spPr>
              <a:xfrm>
                <a:off x="130883" y="31978"/>
                <a:ext cx="116417" cy="175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555" y="0"/>
                    </a:moveTo>
                    <a:cubicBezTo>
                      <a:pt x="708" y="0"/>
                      <a:pt x="0" y="4678"/>
                      <a:pt x="0" y="10308"/>
                    </a:cubicBezTo>
                    <a:cubicBezTo>
                      <a:pt x="143" y="16893"/>
                      <a:pt x="847" y="21600"/>
                      <a:pt x="1555" y="21600"/>
                    </a:cubicBezTo>
                    <a:lnTo>
                      <a:pt x="19906" y="21600"/>
                    </a:lnTo>
                    <a:cubicBezTo>
                      <a:pt x="20896" y="21600"/>
                      <a:pt x="21600" y="16893"/>
                      <a:pt x="21600" y="10308"/>
                    </a:cubicBezTo>
                    <a:cubicBezTo>
                      <a:pt x="21600" y="4678"/>
                      <a:pt x="20896" y="0"/>
                      <a:pt x="1990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586" name="Google Shape;1020;p32"/>
              <p:cNvSpPr/>
              <p:nvPr/>
            </p:nvSpPr>
            <p:spPr>
              <a:xfrm>
                <a:off x="98929" y="149915"/>
                <a:ext cx="81441" cy="821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9" h="21600" fill="norm" stroke="1" extrusionOk="0">
                    <a:moveTo>
                      <a:pt x="10603" y="4202"/>
                    </a:moveTo>
                    <a:cubicBezTo>
                      <a:pt x="14203" y="4202"/>
                      <a:pt x="17200" y="7198"/>
                      <a:pt x="17200" y="10797"/>
                    </a:cubicBezTo>
                    <a:cubicBezTo>
                      <a:pt x="17200" y="14199"/>
                      <a:pt x="14400" y="17201"/>
                      <a:pt x="10603" y="17201"/>
                    </a:cubicBezTo>
                    <a:cubicBezTo>
                      <a:pt x="7200" y="17201"/>
                      <a:pt x="4203" y="14199"/>
                      <a:pt x="4203" y="10797"/>
                    </a:cubicBezTo>
                    <a:cubicBezTo>
                      <a:pt x="4203" y="7198"/>
                      <a:pt x="7200" y="4202"/>
                      <a:pt x="10603" y="4202"/>
                    </a:cubicBezTo>
                    <a:close/>
                    <a:moveTo>
                      <a:pt x="10603" y="0"/>
                    </a:moveTo>
                    <a:cubicBezTo>
                      <a:pt x="4603" y="0"/>
                      <a:pt x="0" y="4799"/>
                      <a:pt x="0" y="10797"/>
                    </a:cubicBezTo>
                    <a:cubicBezTo>
                      <a:pt x="0" y="16801"/>
                      <a:pt x="4603" y="21600"/>
                      <a:pt x="10603" y="21600"/>
                    </a:cubicBezTo>
                    <a:cubicBezTo>
                      <a:pt x="16603" y="21600"/>
                      <a:pt x="21403" y="16801"/>
                      <a:pt x="21403" y="10797"/>
                    </a:cubicBezTo>
                    <a:cubicBezTo>
                      <a:pt x="21600" y="4799"/>
                      <a:pt x="16603" y="0"/>
                      <a:pt x="106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defTabSz="1219169">
                  <a:defRPr sz="1800">
                    <a:solidFill>
                      <a:srgbClr val="000000"/>
                    </a:solidFill>
                  </a:defRPr>
                </a:pPr>
              </a:p>
            </p:txBody>
          </p:sp>
        </p:grpSp>
        <p:sp>
          <p:nvSpPr>
            <p:cNvPr id="588" name="文本框 79"/>
            <p:cNvSpPr txBox="1"/>
            <p:nvPr/>
          </p:nvSpPr>
          <p:spPr>
            <a:xfrm>
              <a:off x="273835" y="590150"/>
              <a:ext cx="2576746" cy="2913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just">
                <a:lnSpc>
                  <a:spcPts val="1500"/>
                </a:lnSpc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负责平台代理服务等应用脚本开发。</a:t>
              </a:r>
            </a:p>
          </p:txBody>
        </p:sp>
        <p:sp>
          <p:nvSpPr>
            <p:cNvPr id="589" name="文本框 80"/>
            <p:cNvSpPr txBox="1"/>
            <p:nvPr/>
          </p:nvSpPr>
          <p:spPr>
            <a:xfrm>
              <a:off x="257642" y="175861"/>
              <a:ext cx="214296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1600">
                  <a:solidFill>
                    <a:srgbClr val="304086"/>
                  </a:solidFill>
                </a:defRPr>
              </a:lvl1pPr>
            </a:lstStyle>
            <a:p>
              <a:pPr/>
              <a:r>
                <a:t>GO开发工程师（1）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0" advTm="0" p14:dur="1200">
        <p:fade thruBlk="1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Class="entr" nodeType="after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Class="entr" nodeType="afterEffect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Class="entr" nodeType="after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64" grpId="2"/>
      <p:bldP build="whole" bldLvl="1" animBg="1" rev="0" advAuto="0" spid="575" grpId="3"/>
      <p:bldP build="whole" bldLvl="1" animBg="1" rev="0" advAuto="0" spid="590" grpId="4"/>
      <p:bldP build="whole" bldLvl="1" animBg="1" rev="0" advAuto="0" spid="55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组合 10"/>
          <p:cNvGrpSpPr/>
          <p:nvPr/>
        </p:nvGrpSpPr>
        <p:grpSpPr>
          <a:xfrm>
            <a:off x="-4" y="-1"/>
            <a:ext cx="12192001" cy="6858001"/>
            <a:chOff x="-2" y="0"/>
            <a:chExt cx="12192000" cy="6858000"/>
          </a:xfrm>
        </p:grpSpPr>
        <p:pic>
          <p:nvPicPr>
            <p:cNvPr id="592" name="图片 11" descr="图片 1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12192001" cy="6858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93" name="矩形 12"/>
            <p:cNvSpPr/>
            <p:nvPr/>
          </p:nvSpPr>
          <p:spPr>
            <a:xfrm>
              <a:off x="-3" y="0"/>
              <a:ext cx="12192001" cy="6858000"/>
            </a:xfrm>
            <a:prstGeom prst="rect">
              <a:avLst/>
            </a:prstGeom>
            <a:solidFill>
              <a:srgbClr val="FFFFFF">
                <a:alpha val="8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595" name="矩形 4"/>
          <p:cNvSpPr/>
          <p:nvPr/>
        </p:nvSpPr>
        <p:spPr>
          <a:xfrm>
            <a:off x="0" y="3731342"/>
            <a:ext cx="12192000" cy="312665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</a:p>
        </p:txBody>
      </p:sp>
      <p:sp>
        <p:nvSpPr>
          <p:cNvPr id="596" name="文本框 8"/>
          <p:cNvSpPr txBox="1"/>
          <p:nvPr/>
        </p:nvSpPr>
        <p:spPr>
          <a:xfrm>
            <a:off x="3279397" y="927593"/>
            <a:ext cx="5590541" cy="1043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400">
                <a:solidFill>
                  <a:schemeClr val="accent1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/>
            <a:r>
              <a:t>感谢莅临现场聆听</a:t>
            </a:r>
          </a:p>
        </p:txBody>
      </p:sp>
      <p:sp>
        <p:nvSpPr>
          <p:cNvPr id="597" name="文本框 9"/>
          <p:cNvSpPr txBox="1"/>
          <p:nvPr/>
        </p:nvSpPr>
        <p:spPr>
          <a:xfrm>
            <a:off x="3856747" y="1849796"/>
            <a:ext cx="3725927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400">
                <a:solidFill>
                  <a:schemeClr val="accent1"/>
                </a:solidFill>
              </a:defRPr>
            </a:lvl1pPr>
          </a:lstStyle>
          <a:p>
            <a:pPr/>
            <a:r>
              <a:t>Thank you for coming to the venue to listen</a:t>
            </a:r>
          </a:p>
        </p:txBody>
      </p:sp>
      <p:grpSp>
        <p:nvGrpSpPr>
          <p:cNvPr id="600" name="图片 26"/>
          <p:cNvGrpSpPr/>
          <p:nvPr/>
        </p:nvGrpSpPr>
        <p:grpSpPr>
          <a:xfrm>
            <a:off x="1095902" y="2277826"/>
            <a:ext cx="10035462" cy="3694907"/>
            <a:chOff x="0" y="0"/>
            <a:chExt cx="10035460" cy="3694906"/>
          </a:xfrm>
        </p:grpSpPr>
        <p:sp>
          <p:nvSpPr>
            <p:cNvPr id="598" name="形状"/>
            <p:cNvSpPr/>
            <p:nvPr/>
          </p:nvSpPr>
          <p:spPr>
            <a:xfrm>
              <a:off x="0" y="0"/>
              <a:ext cx="10035461" cy="36947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856"/>
                  </a:moveTo>
                  <a:lnTo>
                    <a:pt x="0" y="1856"/>
                  </a:lnTo>
                  <a:cubicBezTo>
                    <a:pt x="0" y="831"/>
                    <a:pt x="306" y="0"/>
                    <a:pt x="683" y="0"/>
                  </a:cubicBezTo>
                  <a:lnTo>
                    <a:pt x="20917" y="0"/>
                  </a:lnTo>
                  <a:lnTo>
                    <a:pt x="20917" y="0"/>
                  </a:lnTo>
                  <a:cubicBezTo>
                    <a:pt x="21294" y="0"/>
                    <a:pt x="21600" y="831"/>
                    <a:pt x="21600" y="1856"/>
                  </a:cubicBezTo>
                  <a:lnTo>
                    <a:pt x="21600" y="19744"/>
                  </a:lnTo>
                  <a:lnTo>
                    <a:pt x="21600" y="19744"/>
                  </a:lnTo>
                  <a:cubicBezTo>
                    <a:pt x="21600" y="20769"/>
                    <a:pt x="21294" y="21600"/>
                    <a:pt x="20917" y="21600"/>
                  </a:cubicBezTo>
                  <a:lnTo>
                    <a:pt x="683" y="21600"/>
                  </a:lnTo>
                  <a:lnTo>
                    <a:pt x="683" y="21600"/>
                  </a:lnTo>
                  <a:cubicBezTo>
                    <a:pt x="306" y="21600"/>
                    <a:pt x="0" y="20769"/>
                    <a:pt x="0" y="19744"/>
                  </a:cubicBezTo>
                  <a:close/>
                </a:path>
              </a:pathLst>
            </a:custGeom>
            <a:solidFill>
              <a:srgbClr val="EDEDED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solidFill>
                    <a:srgbClr val="000000"/>
                  </a:solidFill>
                </a:defRPr>
              </a:pPr>
            </a:p>
          </p:txBody>
        </p:sp>
        <p:pic>
          <p:nvPicPr>
            <p:cNvPr id="599" name="生成数字科技背景图 (1).png" descr="生成数字科技背景图 (1)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6764" r="0" b="6762"/>
            <a:stretch>
              <a:fillRect/>
            </a:stretch>
          </p:blipFill>
          <p:spPr>
            <a:xfrm>
              <a:off x="0" y="0"/>
              <a:ext cx="10035382" cy="36949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83" y="0"/>
                  </a:moveTo>
                  <a:cubicBezTo>
                    <a:pt x="306" y="0"/>
                    <a:pt x="0" y="831"/>
                    <a:pt x="0" y="1856"/>
                  </a:cubicBezTo>
                  <a:lnTo>
                    <a:pt x="0" y="19744"/>
                  </a:lnTo>
                  <a:cubicBezTo>
                    <a:pt x="0" y="20769"/>
                    <a:pt x="306" y="21600"/>
                    <a:pt x="683" y="21600"/>
                  </a:cubicBezTo>
                  <a:lnTo>
                    <a:pt x="20917" y="21600"/>
                  </a:lnTo>
                  <a:cubicBezTo>
                    <a:pt x="21294" y="21600"/>
                    <a:pt x="21600" y="20769"/>
                    <a:pt x="21600" y="19744"/>
                  </a:cubicBezTo>
                  <a:lnTo>
                    <a:pt x="21600" y="1856"/>
                  </a:lnTo>
                  <a:cubicBezTo>
                    <a:pt x="21600" y="831"/>
                    <a:pt x="21294" y="0"/>
                    <a:pt x="20917" y="0"/>
                  </a:cubicBezTo>
                  <a:lnTo>
                    <a:pt x="683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>
              <a:reflection blurRad="0" stA="38000" stPos="0" endA="0" endPos="40000" dist="0" dir="5400000" fadeDir="5400000" sx="100000" sy="-100000" kx="0" ky="0" algn="bl" rotWithShape="0"/>
            </a:effectLst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fade thruBlk="1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4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down)" transition="in">
                                      <p:cBhvr>
                                        <p:cTn id="7" dur="75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Class="entr" nodeType="after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5" dur="75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97" grpId="3"/>
      <p:bldP build="whole" bldLvl="1" animBg="1" rev="0" advAuto="0" spid="596" grpId="2"/>
      <p:bldP build="whole" bldLvl="1" animBg="1" rev="0" advAuto="0" spid="595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FFFFFF"/>
      </a:dk1>
      <a:lt1>
        <a:srgbClr val="4375AB"/>
      </a:lt1>
      <a:dk2>
        <a:srgbClr val="A7A7A7"/>
      </a:dk2>
      <a:lt2>
        <a:srgbClr val="535353"/>
      </a:lt2>
      <a:accent1>
        <a:srgbClr val="375DAC"/>
      </a:accent1>
      <a:accent2>
        <a:srgbClr val="4375AB"/>
      </a:accent2>
      <a:accent3>
        <a:srgbClr val="1F3460"/>
      </a:accent3>
      <a:accent4>
        <a:srgbClr val="264260"/>
      </a:accent4>
      <a:accent5>
        <a:srgbClr val="18284A"/>
      </a:accent5>
      <a:accent6>
        <a:srgbClr val="1D324A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ingFang SC Regular"/>
            <a:ea typeface="PingFang SC Regular"/>
            <a:cs typeface="PingFang SC Regular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100" u="none" kumimoji="0" normalizeH="0">
            <a:ln>
              <a:noFill/>
            </a:ln>
            <a:solidFill>
              <a:schemeClr val="accent2"/>
            </a:solidFill>
            <a:effectLst/>
            <a:uFillTx/>
            <a:latin typeface="PingFang SC Regular"/>
            <a:ea typeface="PingFang SC Regular"/>
            <a:cs typeface="PingFang SC Regular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75DAC"/>
      </a:accent1>
      <a:accent2>
        <a:srgbClr val="4375AB"/>
      </a:accent2>
      <a:accent3>
        <a:srgbClr val="1F3460"/>
      </a:accent3>
      <a:accent4>
        <a:srgbClr val="264260"/>
      </a:accent4>
      <a:accent5>
        <a:srgbClr val="18284A"/>
      </a:accent5>
      <a:accent6>
        <a:srgbClr val="1D324A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PingFang SC Regular"/>
            <a:ea typeface="PingFang SC Regular"/>
            <a:cs typeface="PingFang SC Regular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100" u="none" kumimoji="0" normalizeH="0">
            <a:ln>
              <a:noFill/>
            </a:ln>
            <a:solidFill>
              <a:schemeClr val="accent2"/>
            </a:solidFill>
            <a:effectLst/>
            <a:uFillTx/>
            <a:latin typeface="PingFang SC Regular"/>
            <a:ea typeface="PingFang SC Regular"/>
            <a:cs typeface="PingFang SC Regular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